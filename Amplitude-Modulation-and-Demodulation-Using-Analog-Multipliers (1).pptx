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>
      <p:cViewPr varScale="1">
        <p:scale>
          <a:sx n="75" d="100"/>
          <a:sy n="75" d="100"/>
        </p:scale>
        <p:origin x="355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1304" y="2657678"/>
            <a:ext cx="7548880" cy="2126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 u="heavy">
                <a:solidFill>
                  <a:schemeClr val="tx1"/>
                </a:solidFill>
                <a:latin typeface="Malgun Gothic Semilight"/>
                <a:cs typeface="Malgun Gothic Semi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algun Gothic Semilight"/>
                <a:cs typeface="Malgun Gothic Semi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 u="heavy">
                <a:solidFill>
                  <a:schemeClr val="tx1"/>
                </a:solidFill>
                <a:latin typeface="Malgun Gothic Semilight"/>
                <a:cs typeface="Malgun Gothic Semi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algun Gothic Semilight"/>
                <a:cs typeface="Malgun Gothic Semi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 u="heavy">
                <a:solidFill>
                  <a:schemeClr val="tx1"/>
                </a:solidFill>
                <a:latin typeface="Malgun Gothic Semilight"/>
                <a:cs typeface="Malgun Gothic Semi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 u="heavy">
                <a:solidFill>
                  <a:schemeClr val="tx1"/>
                </a:solidFill>
                <a:latin typeface="Malgun Gothic Semilight"/>
                <a:cs typeface="Malgun Gothic Semi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8688" y="378408"/>
            <a:ext cx="11031499" cy="1149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 u="heavy">
                <a:solidFill>
                  <a:schemeClr val="tx1"/>
                </a:solidFill>
                <a:latin typeface="Malgun Gothic Semilight"/>
                <a:cs typeface="Malgun Gothic Semi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1304" y="1847214"/>
            <a:ext cx="7061200" cy="3389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algun Gothic Semilight"/>
                <a:cs typeface="Malgun Gothic Semi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puterhistory.org/revolution/digital-logic/12/281/1487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ts val="5590"/>
              </a:lnSpc>
              <a:spcBef>
                <a:spcPts val="70"/>
              </a:spcBef>
            </a:pPr>
            <a:r>
              <a:rPr sz="4450" b="1" u="none" spc="-10" dirty="0">
                <a:latin typeface="Arial"/>
                <a:cs typeface="Arial"/>
              </a:rPr>
              <a:t>Amplitude</a:t>
            </a:r>
            <a:r>
              <a:rPr sz="4450" b="1" u="none" spc="-200" dirty="0">
                <a:latin typeface="Arial"/>
                <a:cs typeface="Arial"/>
              </a:rPr>
              <a:t> </a:t>
            </a:r>
            <a:r>
              <a:rPr sz="4450" b="1" u="none" dirty="0">
                <a:latin typeface="Arial"/>
                <a:cs typeface="Arial"/>
              </a:rPr>
              <a:t>Modulation</a:t>
            </a:r>
            <a:r>
              <a:rPr sz="4450" b="1" u="none" spc="-80" dirty="0">
                <a:latin typeface="Arial"/>
                <a:cs typeface="Arial"/>
              </a:rPr>
              <a:t> </a:t>
            </a:r>
            <a:r>
              <a:rPr sz="4450" b="1" u="none" spc="-25" dirty="0">
                <a:latin typeface="Arial"/>
                <a:cs typeface="Arial"/>
              </a:rPr>
              <a:t>and </a:t>
            </a:r>
            <a:r>
              <a:rPr sz="4450" b="1" u="none" dirty="0">
                <a:latin typeface="Arial"/>
                <a:cs typeface="Arial"/>
              </a:rPr>
              <a:t>Demodulation</a:t>
            </a:r>
            <a:r>
              <a:rPr sz="4450" b="1" u="none" spc="-254" dirty="0">
                <a:latin typeface="Arial"/>
                <a:cs typeface="Arial"/>
              </a:rPr>
              <a:t> </a:t>
            </a:r>
            <a:r>
              <a:rPr sz="4450" b="1" u="none" dirty="0">
                <a:latin typeface="Arial"/>
                <a:cs typeface="Arial"/>
              </a:rPr>
              <a:t>Using</a:t>
            </a:r>
            <a:r>
              <a:rPr sz="4450" b="1" u="none" spc="-305" dirty="0">
                <a:latin typeface="Arial"/>
                <a:cs typeface="Arial"/>
              </a:rPr>
              <a:t> </a:t>
            </a:r>
            <a:r>
              <a:rPr sz="4450" b="1" u="none" spc="-10" dirty="0">
                <a:latin typeface="Arial"/>
                <a:cs typeface="Arial"/>
              </a:rPr>
              <a:t>Analog</a:t>
            </a:r>
            <a:endParaRPr sz="4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4450" b="1" u="none" spc="-10" dirty="0">
                <a:latin typeface="Arial"/>
                <a:cs typeface="Arial"/>
              </a:rPr>
              <a:t>Multipliers</a:t>
            </a:r>
            <a:endParaRPr sz="44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1304" y="5076266"/>
            <a:ext cx="713041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Team:</a:t>
            </a:r>
            <a:r>
              <a:rPr sz="2800" spc="-1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8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Athul,</a:t>
            </a:r>
            <a:r>
              <a:rPr sz="2800" spc="-1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8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Arpit,</a:t>
            </a:r>
            <a:r>
              <a:rPr sz="2800" spc="5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8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and</a:t>
            </a:r>
            <a:r>
              <a:rPr sz="2800" spc="-1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8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R</a:t>
            </a:r>
            <a:r>
              <a:rPr sz="2800" spc="-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ohith</a:t>
            </a:r>
            <a:r>
              <a:rPr sz="2800" spc="-8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8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| Group</a:t>
            </a:r>
            <a:r>
              <a:rPr sz="2800" spc="-14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8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No:</a:t>
            </a:r>
            <a:r>
              <a:rPr sz="2800" spc="8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8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1</a:t>
            </a:r>
            <a:r>
              <a:rPr sz="2800" spc="-3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800" spc="-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2</a:t>
            </a:r>
            <a:endParaRPr sz="2800" dirty="0">
              <a:latin typeface="Malgun Gothic Semilight"/>
              <a:cs typeface="Malgun Gothic Semi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1519" y="466341"/>
            <a:ext cx="6156960" cy="7641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762000"/>
            <a:ext cx="4778375" cy="6963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50" u="sng" spc="120" dirty="0">
                <a:uFill>
                  <a:solidFill>
                    <a:srgbClr val="000000"/>
                  </a:solidFill>
                </a:uFill>
              </a:rPr>
              <a:t>Aim</a:t>
            </a:r>
            <a:r>
              <a:rPr sz="4450" u="sng" spc="25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4450" u="sng" spc="70" dirty="0">
                <a:uFill>
                  <a:solidFill>
                    <a:srgbClr val="000000"/>
                  </a:solidFill>
                </a:uFill>
              </a:rPr>
              <a:t>and</a:t>
            </a:r>
            <a:r>
              <a:rPr sz="4450" u="sng" spc="19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4450" u="sng" spc="-10" dirty="0">
                <a:uFill>
                  <a:solidFill>
                    <a:srgbClr val="000000"/>
                  </a:solidFill>
                </a:uFill>
              </a:rPr>
              <a:t>Objective</a:t>
            </a:r>
            <a:endParaRPr sz="4450" dirty="0"/>
          </a:p>
        </p:txBody>
      </p:sp>
      <p:grpSp>
        <p:nvGrpSpPr>
          <p:cNvPr id="3" name="object 3"/>
          <p:cNvGrpSpPr/>
          <p:nvPr/>
        </p:nvGrpSpPr>
        <p:grpSpPr>
          <a:xfrm>
            <a:off x="914400" y="2438400"/>
            <a:ext cx="683260" cy="683260"/>
            <a:chOff x="6513576" y="2529839"/>
            <a:chExt cx="683260" cy="683260"/>
          </a:xfrm>
        </p:grpSpPr>
        <p:sp>
          <p:nvSpPr>
            <p:cNvPr id="4" name="object 4"/>
            <p:cNvSpPr/>
            <p:nvPr/>
          </p:nvSpPr>
          <p:spPr>
            <a:xfrm>
              <a:off x="6513576" y="2529839"/>
              <a:ext cx="683260" cy="683260"/>
            </a:xfrm>
            <a:custGeom>
              <a:avLst/>
              <a:gdLst/>
              <a:ahLst/>
              <a:cxnLst/>
              <a:rect l="l" t="t" r="r" b="b"/>
              <a:pathLst>
                <a:path w="683259" h="683260">
                  <a:moveTo>
                    <a:pt x="341375" y="0"/>
                  </a:moveTo>
                  <a:lnTo>
                    <a:pt x="295041" y="3115"/>
                  </a:lnTo>
                  <a:lnTo>
                    <a:pt x="250604" y="12190"/>
                  </a:lnTo>
                  <a:lnTo>
                    <a:pt x="208472" y="26818"/>
                  </a:lnTo>
                  <a:lnTo>
                    <a:pt x="169051" y="46594"/>
                  </a:lnTo>
                  <a:lnTo>
                    <a:pt x="132746" y="71112"/>
                  </a:lnTo>
                  <a:lnTo>
                    <a:pt x="99964" y="99964"/>
                  </a:lnTo>
                  <a:lnTo>
                    <a:pt x="71112" y="132746"/>
                  </a:lnTo>
                  <a:lnTo>
                    <a:pt x="46594" y="169051"/>
                  </a:lnTo>
                  <a:lnTo>
                    <a:pt x="26818" y="208472"/>
                  </a:lnTo>
                  <a:lnTo>
                    <a:pt x="12190" y="250604"/>
                  </a:lnTo>
                  <a:lnTo>
                    <a:pt x="3115" y="295041"/>
                  </a:lnTo>
                  <a:lnTo>
                    <a:pt x="0" y="341375"/>
                  </a:lnTo>
                  <a:lnTo>
                    <a:pt x="3115" y="387710"/>
                  </a:lnTo>
                  <a:lnTo>
                    <a:pt x="12190" y="432147"/>
                  </a:lnTo>
                  <a:lnTo>
                    <a:pt x="26818" y="474279"/>
                  </a:lnTo>
                  <a:lnTo>
                    <a:pt x="46594" y="513700"/>
                  </a:lnTo>
                  <a:lnTo>
                    <a:pt x="71112" y="550005"/>
                  </a:lnTo>
                  <a:lnTo>
                    <a:pt x="99964" y="582787"/>
                  </a:lnTo>
                  <a:lnTo>
                    <a:pt x="132746" y="611639"/>
                  </a:lnTo>
                  <a:lnTo>
                    <a:pt x="169051" y="636157"/>
                  </a:lnTo>
                  <a:lnTo>
                    <a:pt x="208472" y="655933"/>
                  </a:lnTo>
                  <a:lnTo>
                    <a:pt x="250604" y="670561"/>
                  </a:lnTo>
                  <a:lnTo>
                    <a:pt x="295041" y="679636"/>
                  </a:lnTo>
                  <a:lnTo>
                    <a:pt x="341375" y="682751"/>
                  </a:lnTo>
                  <a:lnTo>
                    <a:pt x="387710" y="679636"/>
                  </a:lnTo>
                  <a:lnTo>
                    <a:pt x="432147" y="670561"/>
                  </a:lnTo>
                  <a:lnTo>
                    <a:pt x="474279" y="655933"/>
                  </a:lnTo>
                  <a:lnTo>
                    <a:pt x="513700" y="636157"/>
                  </a:lnTo>
                  <a:lnTo>
                    <a:pt x="550005" y="611639"/>
                  </a:lnTo>
                  <a:lnTo>
                    <a:pt x="582787" y="582787"/>
                  </a:lnTo>
                  <a:lnTo>
                    <a:pt x="611639" y="550005"/>
                  </a:lnTo>
                  <a:lnTo>
                    <a:pt x="636157" y="513700"/>
                  </a:lnTo>
                  <a:lnTo>
                    <a:pt x="655933" y="474279"/>
                  </a:lnTo>
                  <a:lnTo>
                    <a:pt x="670561" y="432147"/>
                  </a:lnTo>
                  <a:lnTo>
                    <a:pt x="679636" y="387710"/>
                  </a:lnTo>
                  <a:lnTo>
                    <a:pt x="682751" y="341375"/>
                  </a:lnTo>
                  <a:lnTo>
                    <a:pt x="679636" y="295041"/>
                  </a:lnTo>
                  <a:lnTo>
                    <a:pt x="670561" y="250604"/>
                  </a:lnTo>
                  <a:lnTo>
                    <a:pt x="655933" y="208472"/>
                  </a:lnTo>
                  <a:lnTo>
                    <a:pt x="636157" y="169051"/>
                  </a:lnTo>
                  <a:lnTo>
                    <a:pt x="611639" y="132746"/>
                  </a:lnTo>
                  <a:lnTo>
                    <a:pt x="582787" y="99964"/>
                  </a:lnTo>
                  <a:lnTo>
                    <a:pt x="550005" y="71112"/>
                  </a:lnTo>
                  <a:lnTo>
                    <a:pt x="513700" y="46594"/>
                  </a:lnTo>
                  <a:lnTo>
                    <a:pt x="474279" y="26818"/>
                  </a:lnTo>
                  <a:lnTo>
                    <a:pt x="432147" y="12190"/>
                  </a:lnTo>
                  <a:lnTo>
                    <a:pt x="387710" y="3115"/>
                  </a:lnTo>
                  <a:lnTo>
                    <a:pt x="341375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2552" y="2718815"/>
              <a:ext cx="304800" cy="3048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14400" y="3310636"/>
            <a:ext cx="11506200" cy="87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400" spc="10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To create a modulation and demodulation circuit using analog multipliers </a:t>
            </a:r>
            <a:endParaRPr sz="2400" dirty="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endParaRPr sz="1750" dirty="0">
              <a:latin typeface="Malgun Gothic Semilight"/>
              <a:cs typeface="Malgun Gothic Semi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78840" y="4330757"/>
            <a:ext cx="683260" cy="680085"/>
            <a:chOff x="6513576" y="5017008"/>
            <a:chExt cx="683260" cy="680085"/>
          </a:xfrm>
        </p:grpSpPr>
        <p:sp>
          <p:nvSpPr>
            <p:cNvPr id="8" name="object 8"/>
            <p:cNvSpPr/>
            <p:nvPr/>
          </p:nvSpPr>
          <p:spPr>
            <a:xfrm>
              <a:off x="6513576" y="5017008"/>
              <a:ext cx="683260" cy="680085"/>
            </a:xfrm>
            <a:custGeom>
              <a:avLst/>
              <a:gdLst/>
              <a:ahLst/>
              <a:cxnLst/>
              <a:rect l="l" t="t" r="r" b="b"/>
              <a:pathLst>
                <a:path w="683259" h="680085">
                  <a:moveTo>
                    <a:pt x="342900" y="0"/>
                  </a:moveTo>
                  <a:lnTo>
                    <a:pt x="339851" y="0"/>
                  </a:lnTo>
                  <a:lnTo>
                    <a:pt x="293733" y="3102"/>
                  </a:lnTo>
                  <a:lnTo>
                    <a:pt x="249502" y="12139"/>
                  </a:lnTo>
                  <a:lnTo>
                    <a:pt x="207561" y="26705"/>
                  </a:lnTo>
                  <a:lnTo>
                    <a:pt x="168317" y="46397"/>
                  </a:lnTo>
                  <a:lnTo>
                    <a:pt x="132173" y="70809"/>
                  </a:lnTo>
                  <a:lnTo>
                    <a:pt x="99536" y="99536"/>
                  </a:lnTo>
                  <a:lnTo>
                    <a:pt x="70809" y="132173"/>
                  </a:lnTo>
                  <a:lnTo>
                    <a:pt x="46397" y="168317"/>
                  </a:lnTo>
                  <a:lnTo>
                    <a:pt x="26705" y="207561"/>
                  </a:lnTo>
                  <a:lnTo>
                    <a:pt x="12139" y="249502"/>
                  </a:lnTo>
                  <a:lnTo>
                    <a:pt x="3102" y="293733"/>
                  </a:lnTo>
                  <a:lnTo>
                    <a:pt x="0" y="339852"/>
                  </a:lnTo>
                  <a:lnTo>
                    <a:pt x="3102" y="385970"/>
                  </a:lnTo>
                  <a:lnTo>
                    <a:pt x="12139" y="430201"/>
                  </a:lnTo>
                  <a:lnTo>
                    <a:pt x="26705" y="472142"/>
                  </a:lnTo>
                  <a:lnTo>
                    <a:pt x="46397" y="511386"/>
                  </a:lnTo>
                  <a:lnTo>
                    <a:pt x="70809" y="547530"/>
                  </a:lnTo>
                  <a:lnTo>
                    <a:pt x="99536" y="580167"/>
                  </a:lnTo>
                  <a:lnTo>
                    <a:pt x="132173" y="608894"/>
                  </a:lnTo>
                  <a:lnTo>
                    <a:pt x="168317" y="633306"/>
                  </a:lnTo>
                  <a:lnTo>
                    <a:pt x="207561" y="652998"/>
                  </a:lnTo>
                  <a:lnTo>
                    <a:pt x="249502" y="667564"/>
                  </a:lnTo>
                  <a:lnTo>
                    <a:pt x="293733" y="676601"/>
                  </a:lnTo>
                  <a:lnTo>
                    <a:pt x="339851" y="679704"/>
                  </a:lnTo>
                  <a:lnTo>
                    <a:pt x="342900" y="679704"/>
                  </a:lnTo>
                  <a:lnTo>
                    <a:pt x="389018" y="676601"/>
                  </a:lnTo>
                  <a:lnTo>
                    <a:pt x="433249" y="667564"/>
                  </a:lnTo>
                  <a:lnTo>
                    <a:pt x="475190" y="652998"/>
                  </a:lnTo>
                  <a:lnTo>
                    <a:pt x="514434" y="633306"/>
                  </a:lnTo>
                  <a:lnTo>
                    <a:pt x="550578" y="608894"/>
                  </a:lnTo>
                  <a:lnTo>
                    <a:pt x="583215" y="580167"/>
                  </a:lnTo>
                  <a:lnTo>
                    <a:pt x="611942" y="547530"/>
                  </a:lnTo>
                  <a:lnTo>
                    <a:pt x="636354" y="511386"/>
                  </a:lnTo>
                  <a:lnTo>
                    <a:pt x="656046" y="472142"/>
                  </a:lnTo>
                  <a:lnTo>
                    <a:pt x="670612" y="430201"/>
                  </a:lnTo>
                  <a:lnTo>
                    <a:pt x="679649" y="385970"/>
                  </a:lnTo>
                  <a:lnTo>
                    <a:pt x="682751" y="339852"/>
                  </a:lnTo>
                  <a:lnTo>
                    <a:pt x="679649" y="293733"/>
                  </a:lnTo>
                  <a:lnTo>
                    <a:pt x="670612" y="249502"/>
                  </a:lnTo>
                  <a:lnTo>
                    <a:pt x="656046" y="207561"/>
                  </a:lnTo>
                  <a:lnTo>
                    <a:pt x="636354" y="168317"/>
                  </a:lnTo>
                  <a:lnTo>
                    <a:pt x="611942" y="132173"/>
                  </a:lnTo>
                  <a:lnTo>
                    <a:pt x="583215" y="99536"/>
                  </a:lnTo>
                  <a:lnTo>
                    <a:pt x="550578" y="70809"/>
                  </a:lnTo>
                  <a:lnTo>
                    <a:pt x="514434" y="46397"/>
                  </a:lnTo>
                  <a:lnTo>
                    <a:pt x="475190" y="26705"/>
                  </a:lnTo>
                  <a:lnTo>
                    <a:pt x="433249" y="12139"/>
                  </a:lnTo>
                  <a:lnTo>
                    <a:pt x="389018" y="3102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2552" y="5184648"/>
              <a:ext cx="304800" cy="3048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14400" y="5486400"/>
            <a:ext cx="8305800" cy="8393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7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Analyze</a:t>
            </a:r>
            <a:r>
              <a:rPr sz="2200" spc="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lang="en-IN" sz="2200" spc="5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advantages over the standard envelope detector</a:t>
            </a:r>
            <a:endParaRPr sz="2200" dirty="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Understand</a:t>
            </a:r>
            <a:r>
              <a:rPr sz="1750" spc="6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advantages</a:t>
            </a:r>
            <a:r>
              <a:rPr sz="1750" spc="2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over</a:t>
            </a:r>
            <a:r>
              <a:rPr sz="1750" spc="-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standard</a:t>
            </a:r>
            <a:r>
              <a:rPr sz="1750" spc="6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4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diode-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based</a:t>
            </a:r>
            <a:r>
              <a:rPr sz="1750" spc="6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circuits</a:t>
            </a:r>
            <a:r>
              <a:rPr lang="en-IN"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and its utility</a:t>
            </a:r>
            <a:endParaRPr sz="1750" dirty="0">
              <a:latin typeface="Malgun Gothic Semilight"/>
              <a:cs typeface="Malgun Gothic Semilight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595448"/>
            <a:ext cx="4749165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Working</a:t>
            </a:r>
            <a:r>
              <a:rPr sz="4450" b="1" u="sng" spc="-1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4450" b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Principle</a:t>
            </a:r>
            <a:endParaRPr sz="44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1304" y="1815390"/>
            <a:ext cx="13897610" cy="1090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100"/>
              </a:spcBef>
            </a:pPr>
            <a:r>
              <a:rPr lang="en-IN" b="1" u="sng" dirty="0">
                <a:solidFill>
                  <a:srgbClr val="272424"/>
                </a:solidFill>
                <a:latin typeface="Microsoft Sans Serif"/>
                <a:cs typeface="Microsoft Sans Serif"/>
              </a:rPr>
              <a:t>THE WORKING OF DEMODULATION </a:t>
            </a:r>
            <a:r>
              <a:rPr lang="en-IN" b="1" dirty="0">
                <a:solidFill>
                  <a:srgbClr val="272424"/>
                </a:solidFill>
                <a:latin typeface="Microsoft Sans Serif"/>
                <a:cs typeface="Microsoft Sans Serif"/>
              </a:rPr>
              <a:t>:</a:t>
            </a:r>
            <a:endParaRPr lang="en-IN" sz="1800" b="1" dirty="0">
              <a:solidFill>
                <a:srgbClr val="272424"/>
              </a:solidFill>
              <a:latin typeface="Microsoft Sans Serif"/>
              <a:cs typeface="Microsoft Sans Serif"/>
            </a:endParaRPr>
          </a:p>
          <a:p>
            <a:pPr marL="12700" marR="5080">
              <a:lnSpc>
                <a:spcPct val="133400"/>
              </a:lnSpc>
              <a:spcBef>
                <a:spcPts val="100"/>
              </a:spcBef>
            </a:pP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8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circuit</a:t>
            </a:r>
            <a:r>
              <a:rPr sz="18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receives</a:t>
            </a:r>
            <a:r>
              <a:rPr sz="18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an</a:t>
            </a:r>
            <a:r>
              <a:rPr sz="1800" spc="-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AM(Amplitude</a:t>
            </a:r>
            <a:r>
              <a:rPr sz="18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Modulated)</a:t>
            </a:r>
            <a:r>
              <a:rPr sz="18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signal</a:t>
            </a:r>
            <a:r>
              <a:rPr sz="18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8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multiplies</a:t>
            </a:r>
            <a:r>
              <a:rPr sz="180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it</a:t>
            </a:r>
            <a:r>
              <a:rPr sz="18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</a:t>
            </a:r>
            <a:r>
              <a:rPr sz="18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80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locally</a:t>
            </a:r>
            <a:r>
              <a:rPr sz="180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generated</a:t>
            </a:r>
            <a:r>
              <a:rPr sz="1800" spc="-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carrier</a:t>
            </a:r>
            <a:r>
              <a:rPr sz="18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signal</a:t>
            </a:r>
            <a:r>
              <a:rPr sz="18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of</a:t>
            </a:r>
            <a:r>
              <a:rPr sz="180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80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same</a:t>
            </a:r>
            <a:r>
              <a:rPr sz="1800" spc="1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frequency</a:t>
            </a:r>
            <a:r>
              <a:rPr sz="18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and </a:t>
            </a:r>
            <a:r>
              <a:rPr lang="en-IN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p</a:t>
            </a:r>
            <a:r>
              <a:rPr sz="1800" spc="-20" dirty="0" err="1">
                <a:solidFill>
                  <a:srgbClr val="272424"/>
                </a:solidFill>
                <a:latin typeface="Microsoft Sans Serif"/>
                <a:cs typeface="Microsoft Sans Serif"/>
              </a:rPr>
              <a:t>hase</a:t>
            </a:r>
            <a:r>
              <a:rPr sz="18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,i.e.</a:t>
            </a:r>
            <a:r>
              <a:rPr sz="18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80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72424"/>
                </a:solidFill>
                <a:latin typeface="Microsoft Sans Serif"/>
                <a:cs typeface="Microsoft Sans Serif"/>
              </a:rPr>
              <a:t>coherent</a:t>
            </a:r>
            <a:r>
              <a:rPr sz="180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signal</a:t>
            </a:r>
            <a:r>
              <a:rPr lang="en-IN" sz="18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which is then passed through a low pass filter to obtain back the message signal [m(t)].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304" y="3156966"/>
            <a:ext cx="2755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01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2480" y="3511296"/>
            <a:ext cx="6410325" cy="30480"/>
          </a:xfrm>
          <a:custGeom>
            <a:avLst/>
            <a:gdLst/>
            <a:ahLst/>
            <a:cxnLst/>
            <a:rect l="l" t="t" r="r" b="b"/>
            <a:pathLst>
              <a:path w="6410325" h="30479">
                <a:moveTo>
                  <a:pt x="6409944" y="0"/>
                </a:moveTo>
                <a:lnTo>
                  <a:pt x="0" y="0"/>
                </a:lnTo>
                <a:lnTo>
                  <a:pt x="0" y="30479"/>
                </a:lnTo>
                <a:lnTo>
                  <a:pt x="6409944" y="30479"/>
                </a:lnTo>
                <a:lnTo>
                  <a:pt x="6409944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1304" y="3662883"/>
            <a:ext cx="6151245" cy="1591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spc="-10" dirty="0">
                <a:solidFill>
                  <a:srgbClr val="272424"/>
                </a:solidFill>
                <a:latin typeface="Arial"/>
                <a:cs typeface="Arial"/>
              </a:rPr>
              <a:t>Input</a:t>
            </a:r>
            <a:r>
              <a:rPr sz="2200" b="1" spc="-9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endParaRPr sz="2200" dirty="0">
              <a:latin typeface="Arial"/>
              <a:cs typeface="Arial"/>
            </a:endParaRPr>
          </a:p>
          <a:p>
            <a:pPr marL="12700" marR="5080">
              <a:lnSpc>
                <a:spcPct val="120500"/>
              </a:lnSpc>
              <a:spcBef>
                <a:spcPts val="1005"/>
              </a:spcBef>
            </a:pP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Receive</a:t>
            </a:r>
            <a:r>
              <a:rPr sz="2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amplitude</a:t>
            </a:r>
            <a:r>
              <a:rPr sz="2000" spc="-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modulated</a:t>
            </a:r>
            <a:r>
              <a:rPr sz="200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signal:</a:t>
            </a:r>
            <a:r>
              <a:rPr sz="200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s(t)</a:t>
            </a:r>
            <a:r>
              <a:rPr sz="2000" spc="-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20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[1</a:t>
            </a:r>
            <a:r>
              <a:rPr sz="2000" spc="-1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+</a:t>
            </a:r>
            <a:r>
              <a:rPr sz="2000" spc="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m(t)]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cos(ω</a:t>
            </a:r>
            <a:r>
              <a:rPr sz="2000" baseline="-25000" dirty="0">
                <a:solidFill>
                  <a:srgbClr val="272424"/>
                </a:solidFill>
                <a:latin typeface="Microsoft Sans Serif"/>
                <a:cs typeface="Microsoft Sans Serif"/>
              </a:rPr>
              <a:t>c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t)</a:t>
            </a:r>
            <a:r>
              <a:rPr sz="200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where,</a:t>
            </a:r>
            <a:r>
              <a:rPr sz="200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m(t)=Message</a:t>
            </a:r>
            <a:r>
              <a:rPr sz="200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signal</a:t>
            </a:r>
            <a:r>
              <a:rPr sz="2000" spc="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200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spc="95" dirty="0">
                <a:solidFill>
                  <a:srgbClr val="272424"/>
                </a:solidFill>
                <a:latin typeface="Microsoft Sans Serif"/>
                <a:cs typeface="Microsoft Sans Serif"/>
              </a:rPr>
              <a:t>ω</a:t>
            </a:r>
            <a:r>
              <a:rPr lang="en-IN" sz="2000" spc="95" baseline="-25000" dirty="0">
                <a:solidFill>
                  <a:srgbClr val="272424"/>
                </a:solidFill>
                <a:latin typeface="Microsoft Sans Serif"/>
                <a:cs typeface="Microsoft Sans Serif"/>
              </a:rPr>
              <a:t>c</a:t>
            </a:r>
            <a:r>
              <a:rPr sz="2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=Carrier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signal</a:t>
            </a:r>
            <a:r>
              <a:rPr sz="2000" spc="-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frequency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17434" y="3200780"/>
            <a:ext cx="2755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02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27976" y="3511296"/>
            <a:ext cx="6410325" cy="30480"/>
          </a:xfrm>
          <a:custGeom>
            <a:avLst/>
            <a:gdLst/>
            <a:ahLst/>
            <a:cxnLst/>
            <a:rect l="l" t="t" r="r" b="b"/>
            <a:pathLst>
              <a:path w="6410325" h="30479">
                <a:moveTo>
                  <a:pt x="6409943" y="0"/>
                </a:moveTo>
                <a:lnTo>
                  <a:pt x="0" y="0"/>
                </a:lnTo>
                <a:lnTo>
                  <a:pt x="0" y="30479"/>
                </a:lnTo>
                <a:lnTo>
                  <a:pt x="6409943" y="30479"/>
                </a:lnTo>
                <a:lnTo>
                  <a:pt x="6409943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417434" y="3662883"/>
            <a:ext cx="4779645" cy="8566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spc="-20" dirty="0">
                <a:solidFill>
                  <a:srgbClr val="272424"/>
                </a:solidFill>
                <a:latin typeface="Arial"/>
                <a:cs typeface="Arial"/>
              </a:rPr>
              <a:t>Local</a:t>
            </a:r>
            <a:r>
              <a:rPr sz="2200" b="1" spc="-100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272424"/>
                </a:solidFill>
                <a:latin typeface="Arial"/>
                <a:cs typeface="Arial"/>
              </a:rPr>
              <a:t>Carrier</a:t>
            </a:r>
            <a:endParaRPr sz="2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Generate</a:t>
            </a:r>
            <a:r>
              <a:rPr sz="2000" spc="-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coherent</a:t>
            </a:r>
            <a:r>
              <a:rPr sz="2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carrier:</a:t>
            </a:r>
            <a:r>
              <a:rPr sz="2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V</a:t>
            </a:r>
            <a:r>
              <a:rPr sz="2000" baseline="-25000" dirty="0">
                <a:solidFill>
                  <a:srgbClr val="272424"/>
                </a:solidFill>
                <a:latin typeface="Microsoft Sans Serif"/>
                <a:cs typeface="Microsoft Sans Serif"/>
              </a:rPr>
              <a:t>LC</a:t>
            </a:r>
            <a:r>
              <a:rPr sz="2000" spc="-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72424"/>
                </a:solidFill>
                <a:latin typeface="Microsoft Sans Serif"/>
                <a:cs typeface="Microsoft Sans Serif"/>
              </a:rPr>
              <a:t>=</a:t>
            </a:r>
            <a:r>
              <a:rPr sz="200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cos(ωₒt)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1304" y="5833998"/>
            <a:ext cx="835977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analog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multipliers,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obtain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signals.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1304" y="483216"/>
            <a:ext cx="7608570" cy="74993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750" spc="4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multiplication</a:t>
            </a:r>
            <a:r>
              <a:rPr sz="175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produces</a:t>
            </a:r>
            <a:r>
              <a:rPr sz="17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both</a:t>
            </a:r>
            <a:r>
              <a:rPr sz="1750" spc="-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baseband</a:t>
            </a:r>
            <a:r>
              <a:rPr sz="17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and</a:t>
            </a:r>
            <a:r>
              <a:rPr sz="17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high-frequency</a:t>
            </a:r>
            <a:r>
              <a:rPr sz="1750" spc="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components:</a:t>
            </a:r>
            <a:endParaRPr sz="1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800" dirty="0">
                <a:latin typeface="Calibri"/>
                <a:cs typeface="Calibri"/>
              </a:rPr>
              <a:t>Then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multiplied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signal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becomes: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2844" y="1731338"/>
            <a:ext cx="5206149" cy="2781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1304" y="2737815"/>
            <a:ext cx="62509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Using</a:t>
            </a:r>
            <a:r>
              <a:rPr sz="175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trigonometric</a:t>
            </a:r>
            <a:r>
              <a:rPr sz="1750" spc="-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identity:</a:t>
            </a:r>
            <a:r>
              <a:rPr sz="1750" spc="3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Calibri"/>
                <a:cs typeface="Calibri"/>
              </a:rPr>
              <a:t>cos</a:t>
            </a:r>
            <a:r>
              <a:rPr sz="1800" spc="-10" dirty="0">
                <a:latin typeface="Cambria Math"/>
                <a:cs typeface="Cambria Math"/>
              </a:rPr>
              <a:t>𝐴⋅</a:t>
            </a:r>
            <a:r>
              <a:rPr sz="1800" spc="-10" dirty="0">
                <a:latin typeface="Calibri"/>
                <a:cs typeface="Calibri"/>
              </a:rPr>
              <a:t>cos</a:t>
            </a:r>
            <a:r>
              <a:rPr sz="1800" spc="-10" dirty="0">
                <a:latin typeface="Cambria Math"/>
                <a:cs typeface="Cambria Math"/>
              </a:rPr>
              <a:t>𝐵</a:t>
            </a:r>
            <a:r>
              <a:rPr sz="1800" spc="-10" dirty="0">
                <a:latin typeface="Calibri"/>
                <a:cs typeface="Calibri"/>
              </a:rPr>
              <a:t>=1/2[cos(</a:t>
            </a:r>
            <a:r>
              <a:rPr sz="1800" spc="-10" dirty="0">
                <a:latin typeface="Cambria Math"/>
                <a:cs typeface="Cambria Math"/>
              </a:rPr>
              <a:t>𝐴</a:t>
            </a:r>
            <a:r>
              <a:rPr sz="1800" spc="-10" dirty="0">
                <a:latin typeface="Calibri"/>
                <a:cs typeface="Calibri"/>
              </a:rPr>
              <a:t>−</a:t>
            </a:r>
            <a:r>
              <a:rPr sz="1800" spc="-10" dirty="0">
                <a:latin typeface="Cambria Math"/>
                <a:cs typeface="Cambria Math"/>
              </a:rPr>
              <a:t>𝐵</a:t>
            </a:r>
            <a:r>
              <a:rPr sz="1800" spc="-10" dirty="0">
                <a:latin typeface="Calibri"/>
                <a:cs typeface="Calibri"/>
              </a:rPr>
              <a:t>)+cos(</a:t>
            </a:r>
            <a:r>
              <a:rPr sz="1800" spc="-10" dirty="0">
                <a:latin typeface="Cambria Math"/>
                <a:cs typeface="Cambria Math"/>
              </a:rPr>
              <a:t>𝐴</a:t>
            </a:r>
            <a:r>
              <a:rPr sz="1800" spc="-10" dirty="0">
                <a:latin typeface="Calibri"/>
                <a:cs typeface="Calibri"/>
              </a:rPr>
              <a:t>+</a:t>
            </a:r>
            <a:r>
              <a:rPr sz="1800" spc="-10" dirty="0">
                <a:latin typeface="Cambria Math"/>
                <a:cs typeface="Cambria Math"/>
              </a:rPr>
              <a:t>𝐵</a:t>
            </a:r>
            <a:r>
              <a:rPr sz="1800" spc="-10" dirty="0">
                <a:latin typeface="Calibri"/>
                <a:cs typeface="Calibri"/>
              </a:rPr>
              <a:t>)]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1432" y="3267455"/>
            <a:ext cx="6403605" cy="6187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16000" y="4344365"/>
            <a:ext cx="268287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spc="-30" dirty="0">
                <a:latin typeface="Arial"/>
                <a:cs typeface="Arial"/>
              </a:rPr>
              <a:t>Low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spc="-80" dirty="0">
                <a:latin typeface="Arial"/>
                <a:cs typeface="Arial"/>
              </a:rPr>
              <a:t>Frequency </a:t>
            </a:r>
            <a:r>
              <a:rPr sz="2200" b="1" spc="-70" dirty="0">
                <a:latin typeface="Arial"/>
                <a:cs typeface="Arial"/>
              </a:rPr>
              <a:t>Term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5235905"/>
            <a:ext cx="392239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½[1</a:t>
            </a:r>
            <a:r>
              <a:rPr sz="1750" spc="-1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+</a:t>
            </a:r>
            <a:r>
              <a:rPr sz="1750" spc="5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m(t)]</a:t>
            </a:r>
            <a:r>
              <a:rPr sz="1750" spc="3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-</a:t>
            </a:r>
            <a:r>
              <a:rPr sz="175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Baseband</a:t>
            </a:r>
            <a:r>
              <a:rPr sz="17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message</a:t>
            </a:r>
            <a:r>
              <a:rPr sz="1750" spc="8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signal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000" y="5868718"/>
            <a:ext cx="7359650" cy="76390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On</a:t>
            </a:r>
            <a:r>
              <a:rPr sz="175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passing</a:t>
            </a:r>
            <a:r>
              <a:rPr sz="17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this</a:t>
            </a:r>
            <a:r>
              <a:rPr sz="1750" spc="-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product</a:t>
            </a:r>
            <a:r>
              <a:rPr sz="175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signal</a:t>
            </a:r>
            <a:r>
              <a:rPr sz="1750" spc="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through</a:t>
            </a:r>
            <a:r>
              <a:rPr sz="1750" spc="-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75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low</a:t>
            </a:r>
            <a:r>
              <a:rPr sz="1750" spc="-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pass</a:t>
            </a:r>
            <a:r>
              <a:rPr sz="175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filter</a:t>
            </a:r>
            <a:r>
              <a:rPr sz="1750" spc="-4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we</a:t>
            </a:r>
            <a:r>
              <a:rPr sz="175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can</a:t>
            </a:r>
            <a:r>
              <a:rPr sz="17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recover</a:t>
            </a:r>
            <a:r>
              <a:rPr sz="1750" spc="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spc="-25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endParaRPr sz="17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Mess</a:t>
            </a:r>
            <a:r>
              <a:rPr lang="en-IN"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age </a:t>
            </a:r>
            <a:r>
              <a:rPr sz="1750" spc="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signal:</a:t>
            </a:r>
            <a:r>
              <a:rPr sz="1750" spc="-9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½[1+m(t)]</a:t>
            </a:r>
            <a:endParaRPr sz="1750" dirty="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6823" y="4344365"/>
            <a:ext cx="276161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spc="-10" dirty="0">
                <a:latin typeface="Arial"/>
                <a:cs typeface="Arial"/>
              </a:rPr>
              <a:t>High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spc="-70" dirty="0">
                <a:latin typeface="Arial"/>
                <a:cs typeface="Arial"/>
              </a:rPr>
              <a:t>Frequency</a:t>
            </a:r>
            <a:r>
              <a:rPr sz="2200" b="1" spc="-75" dirty="0">
                <a:latin typeface="Arial"/>
                <a:cs typeface="Arial"/>
              </a:rPr>
              <a:t> </a:t>
            </a:r>
            <a:r>
              <a:rPr sz="2200" b="1" spc="-70" dirty="0">
                <a:latin typeface="Arial"/>
                <a:cs typeface="Arial"/>
              </a:rPr>
              <a:t>Term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46823" y="5263641"/>
            <a:ext cx="212915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½[1</a:t>
            </a:r>
            <a:r>
              <a:rPr sz="1750" spc="-1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+</a:t>
            </a:r>
            <a:r>
              <a:rPr sz="1750" spc="1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m(t)]</a:t>
            </a:r>
            <a:r>
              <a:rPr sz="175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cos(2ω</a:t>
            </a:r>
            <a:r>
              <a:rPr sz="140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c</a:t>
            </a:r>
            <a:r>
              <a:rPr sz="17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t)</a:t>
            </a:r>
            <a:endParaRPr sz="1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162" rIns="0" bIns="0" rtlCol="0">
            <a:spAutoFit/>
          </a:bodyPr>
          <a:lstStyle/>
          <a:p>
            <a:pPr marL="432434">
              <a:lnSpc>
                <a:spcPct val="100000"/>
              </a:lnSpc>
              <a:spcBef>
                <a:spcPts val="90"/>
              </a:spcBef>
            </a:pPr>
            <a:r>
              <a:rPr sz="44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Implementation</a:t>
            </a:r>
            <a:r>
              <a:rPr sz="4450" b="1" u="sng" spc="-1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44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Using</a:t>
            </a:r>
            <a:r>
              <a:rPr sz="4450" b="1" u="sng" spc="-2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44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Analog</a:t>
            </a:r>
            <a:r>
              <a:rPr sz="4450" b="1" u="sng" spc="-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44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Multiplier</a:t>
            </a:r>
            <a:endParaRPr sz="44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2856" y="1472183"/>
            <a:ext cx="4105655" cy="48036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2744" y="1761235"/>
            <a:ext cx="5297805" cy="4470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369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getting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help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analog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multipliers.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 marR="21971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ways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construct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such </a:t>
            </a:r>
            <a:r>
              <a:rPr sz="2400" dirty="0">
                <a:latin typeface="Times New Roman"/>
                <a:cs typeface="Times New Roman"/>
              </a:rPr>
              <a:t>multipliers,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IC’s </a:t>
            </a:r>
            <a:r>
              <a:rPr sz="2400" dirty="0">
                <a:latin typeface="Times New Roman"/>
                <a:cs typeface="Times New Roman"/>
              </a:rPr>
              <a:t>(AD633)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build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discrete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circuits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Gilbert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cell.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Now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we’ll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implementation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u="sng" dirty="0">
                <a:latin typeface="Times New Roman"/>
                <a:cs typeface="Times New Roman"/>
              </a:rPr>
              <a:t>simplified</a:t>
            </a:r>
            <a:r>
              <a:rPr sz="2400" u="sng" spc="-60" dirty="0">
                <a:latin typeface="Times New Roman"/>
                <a:cs typeface="Times New Roman"/>
              </a:rPr>
              <a:t> </a:t>
            </a:r>
            <a:r>
              <a:rPr sz="2400" u="sng" dirty="0">
                <a:latin typeface="Times New Roman"/>
                <a:cs typeface="Times New Roman"/>
              </a:rPr>
              <a:t>version</a:t>
            </a:r>
            <a:r>
              <a:rPr sz="2400" u="sng" spc="10" dirty="0">
                <a:latin typeface="Times New Roman"/>
                <a:cs typeface="Times New Roman"/>
              </a:rPr>
              <a:t> </a:t>
            </a:r>
            <a:r>
              <a:rPr sz="2400" u="sng" dirty="0">
                <a:latin typeface="Times New Roman"/>
                <a:cs typeface="Times New Roman"/>
              </a:rPr>
              <a:t>of</a:t>
            </a:r>
            <a:r>
              <a:rPr sz="2400" u="sng" spc="-15" dirty="0">
                <a:latin typeface="Times New Roman"/>
                <a:cs typeface="Times New Roman"/>
              </a:rPr>
              <a:t> </a:t>
            </a:r>
            <a:r>
              <a:rPr sz="2400" u="sng" spc="-50" dirty="0">
                <a:latin typeface="Times New Roman"/>
                <a:cs typeface="Times New Roman"/>
              </a:rPr>
              <a:t>a </a:t>
            </a:r>
            <a:r>
              <a:rPr sz="2400" u="sng" dirty="0">
                <a:latin typeface="Times New Roman"/>
                <a:cs typeface="Times New Roman"/>
              </a:rPr>
              <a:t>gilbert</a:t>
            </a:r>
            <a:r>
              <a:rPr sz="2400" u="sng" spc="-30" dirty="0">
                <a:latin typeface="Times New Roman"/>
                <a:cs typeface="Times New Roman"/>
              </a:rPr>
              <a:t> </a:t>
            </a:r>
            <a:r>
              <a:rPr sz="2400" u="sng" dirty="0">
                <a:latin typeface="Times New Roman"/>
                <a:cs typeface="Times New Roman"/>
              </a:rPr>
              <a:t>cell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essentially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variable </a:t>
            </a:r>
            <a:r>
              <a:rPr sz="2400" dirty="0">
                <a:latin typeface="Times New Roman"/>
                <a:cs typeface="Times New Roman"/>
              </a:rPr>
              <a:t>transconductance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multiplier.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/>
              <p:cNvSpPr txBox="1"/>
              <p:nvPr/>
            </p:nvSpPr>
            <p:spPr>
              <a:xfrm>
                <a:off x="729183" y="1243710"/>
                <a:ext cx="12847320" cy="5320687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2000" dirty="0">
                    <a:latin typeface="Times New Roman"/>
                    <a:cs typeface="Times New Roman"/>
                  </a:rPr>
                  <a:t>Through</a:t>
                </a:r>
                <a:r>
                  <a:rPr sz="2000" spc="-3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the</a:t>
                </a:r>
                <a:r>
                  <a:rPr sz="2000" spc="-3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differential</a:t>
                </a:r>
                <a:r>
                  <a:rPr sz="2000" spc="-15" dirty="0">
                    <a:latin typeface="Times New Roman"/>
                    <a:cs typeface="Times New Roman"/>
                  </a:rPr>
                  <a:t> </a:t>
                </a:r>
                <a:r>
                  <a:rPr sz="2000" spc="-20" dirty="0">
                    <a:latin typeface="Times New Roman"/>
                    <a:cs typeface="Times New Roman"/>
                  </a:rPr>
                  <a:t>amplifier-</a:t>
                </a:r>
                <a:r>
                  <a:rPr sz="2000" dirty="0">
                    <a:latin typeface="Times New Roman"/>
                    <a:cs typeface="Times New Roman"/>
                  </a:rPr>
                  <a:t>based</a:t>
                </a:r>
                <a:r>
                  <a:rPr sz="2000" spc="1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circuit</a:t>
                </a:r>
                <a:r>
                  <a:rPr sz="2000" spc="-3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we</a:t>
                </a:r>
                <a:r>
                  <a:rPr sz="2000" spc="1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assume</a:t>
                </a:r>
                <a:r>
                  <a:rPr sz="2000" spc="1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that</a:t>
                </a:r>
                <a:r>
                  <a:rPr lang="en-IN" sz="2000" dirty="0"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dirty="0">
                    <a:latin typeface="Times New Roman"/>
                    <a:cs typeface="Times New Roman"/>
                  </a:rPr>
                  <a:t>is</a:t>
                </a:r>
                <a:r>
                  <a:rPr sz="2000" spc="-4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small</a:t>
                </a:r>
                <a:r>
                  <a:rPr lang="en-IN" sz="2000" dirty="0">
                    <a:latin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000" i="1" smtClean="0">
                            <a:latin typeface="Cambria Math" panose="02040503050406030204" pitchFamily="18" charset="0"/>
                          </a:rPr>
                          <m:t>𝐸𝐸</m:t>
                        </m:r>
                      </m:sub>
                    </m:sSub>
                  </m:oMath>
                </a14:m>
                <a:r>
                  <a:rPr sz="2000" dirty="0">
                    <a:latin typeface="Times New Roman"/>
                    <a:cs typeface="Times New Roman"/>
                  </a:rPr>
                  <a:t>is</a:t>
                </a:r>
                <a:r>
                  <a:rPr sz="2000" spc="-4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fixed so</a:t>
                </a:r>
                <a:r>
                  <a:rPr sz="2000" spc="-3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we</a:t>
                </a:r>
                <a:r>
                  <a:rPr sz="2000" spc="1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can</a:t>
                </a:r>
                <a:r>
                  <a:rPr sz="2000" spc="-4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treat</a:t>
                </a:r>
                <a:r>
                  <a:rPr sz="2000" spc="-4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it</a:t>
                </a:r>
                <a:r>
                  <a:rPr sz="2000" spc="-5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as</a:t>
                </a:r>
                <a:r>
                  <a:rPr sz="2000" spc="-4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a</a:t>
                </a:r>
                <a:r>
                  <a:rPr sz="2000" spc="-30" dirty="0">
                    <a:latin typeface="Times New Roman"/>
                    <a:cs typeface="Times New Roman"/>
                  </a:rPr>
                  <a:t> </a:t>
                </a:r>
                <a:r>
                  <a:rPr sz="2000" spc="-10" dirty="0">
                    <a:latin typeface="Times New Roman"/>
                    <a:cs typeface="Times New Roman"/>
                  </a:rPr>
                  <a:t>constant-</a:t>
                </a:r>
                <a:r>
                  <a:rPr sz="2000" dirty="0">
                    <a:latin typeface="Times New Roman"/>
                    <a:cs typeface="Times New Roman"/>
                  </a:rPr>
                  <a:t>gain</a:t>
                </a:r>
                <a:r>
                  <a:rPr sz="2000" spc="25" dirty="0">
                    <a:latin typeface="Times New Roman"/>
                    <a:cs typeface="Times New Roman"/>
                  </a:rPr>
                  <a:t> </a:t>
                </a:r>
                <a:r>
                  <a:rPr sz="2000" spc="-10" dirty="0">
                    <a:latin typeface="Times New Roman"/>
                    <a:cs typeface="Times New Roman"/>
                  </a:rPr>
                  <a:t>amplifier.</a:t>
                </a:r>
                <a:endParaRPr sz="20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100"/>
                  </a:spcBef>
                </a:pPr>
                <a:endParaRPr sz="2000" dirty="0">
                  <a:latin typeface="Times New Roman"/>
                  <a:cs typeface="Times New Roman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5"/>
                  </a:spcBef>
                </a:pPr>
                <a:r>
                  <a:rPr sz="2000" dirty="0">
                    <a:latin typeface="Times New Roman"/>
                    <a:cs typeface="Times New Roman"/>
                  </a:rPr>
                  <a:t>Since</a:t>
                </a:r>
                <a:r>
                  <a:rPr sz="2000" spc="-2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it</a:t>
                </a:r>
                <a:r>
                  <a:rPr sz="2000" spc="-6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is</a:t>
                </a:r>
                <a:r>
                  <a:rPr sz="2000" spc="-5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in</a:t>
                </a:r>
                <a:r>
                  <a:rPr sz="2000" spc="-3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common</a:t>
                </a:r>
                <a:r>
                  <a:rPr sz="2000" spc="1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emitter</a:t>
                </a:r>
                <a:r>
                  <a:rPr sz="2000" spc="-20" dirty="0">
                    <a:latin typeface="Times New Roman"/>
                    <a:cs typeface="Times New Roman"/>
                  </a:rPr>
                  <a:t> </a:t>
                </a:r>
                <a:r>
                  <a:rPr sz="2000" spc="-10" dirty="0">
                    <a:latin typeface="Times New Roman"/>
                    <a:cs typeface="Times New Roman"/>
                  </a:rPr>
                  <a:t>mode,</a:t>
                </a:r>
                <a:endParaRPr sz="2000" dirty="0">
                  <a:latin typeface="Times New Roman"/>
                  <a:cs typeface="Times New Roman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20"/>
                  </a:spcBef>
                </a:pPr>
                <a:r>
                  <a:rPr sz="2000" dirty="0">
                    <a:latin typeface="Cambria Math"/>
                    <a:cs typeface="Cambria Math"/>
                  </a:rPr>
                  <a:t>𝑉</a:t>
                </a:r>
                <a:r>
                  <a:rPr sz="2000" baseline="-25000" dirty="0">
                    <a:latin typeface="Cambria Math"/>
                    <a:cs typeface="Cambria Math"/>
                  </a:rPr>
                  <a:t>𝑜𝑢𝑡</a:t>
                </a:r>
                <a:r>
                  <a:rPr sz="2000" spc="-55" dirty="0">
                    <a:latin typeface="Cambria Math"/>
                    <a:cs typeface="Cambria Math"/>
                  </a:rPr>
                  <a:t> </a:t>
                </a:r>
                <a:r>
                  <a:rPr sz="2000" spc="-10" dirty="0">
                    <a:latin typeface="Cambria Math"/>
                    <a:cs typeface="Cambria Math"/>
                  </a:rPr>
                  <a:t>≈𝑔</a:t>
                </a:r>
                <a:r>
                  <a:rPr sz="1400" spc="-10" dirty="0">
                    <a:latin typeface="Cambria Math"/>
                    <a:cs typeface="Cambria Math"/>
                  </a:rPr>
                  <a:t>𝑚</a:t>
                </a:r>
                <a:r>
                  <a:rPr sz="2000" spc="-10" dirty="0">
                    <a:latin typeface="Cambria Math"/>
                    <a:cs typeface="Cambria Math"/>
                  </a:rPr>
                  <a:t>𝑅</a:t>
                </a:r>
                <a:r>
                  <a:rPr sz="1400" spc="-10" dirty="0">
                    <a:latin typeface="Cambria Math"/>
                    <a:cs typeface="Cambria Math"/>
                  </a:rPr>
                  <a:t>𝐿</a:t>
                </a:r>
                <a:r>
                  <a:rPr sz="2000" spc="-10" dirty="0">
                    <a:latin typeface="Cambria Math"/>
                    <a:cs typeface="Cambria Math"/>
                  </a:rPr>
                  <a:t>𝑉</a:t>
                </a:r>
                <a:r>
                  <a:rPr sz="1400" spc="-10" dirty="0">
                    <a:latin typeface="Cambria Math"/>
                    <a:cs typeface="Cambria Math"/>
                  </a:rPr>
                  <a:t>1</a:t>
                </a:r>
                <a:endParaRPr sz="1400" dirty="0">
                  <a:latin typeface="Cambria Math"/>
                  <a:cs typeface="Cambria Math"/>
                </a:endParaRPr>
              </a:p>
              <a:p>
                <a:pPr>
                  <a:lnSpc>
                    <a:spcPct val="100000"/>
                  </a:lnSpc>
                  <a:spcBef>
                    <a:spcPts val="60"/>
                  </a:spcBef>
                </a:pPr>
                <a:endParaRPr sz="2000" dirty="0">
                  <a:latin typeface="Cambria Math"/>
                  <a:cs typeface="Cambria Math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sz="2000" dirty="0">
                    <a:latin typeface="Times New Roman"/>
                    <a:cs typeface="Times New Roman"/>
                  </a:rPr>
                  <a:t>where,</a:t>
                </a:r>
                <a:r>
                  <a:rPr sz="2000" spc="-50" dirty="0">
                    <a:latin typeface="Times New Roman"/>
                    <a:cs typeface="Times New Roman"/>
                  </a:rPr>
                  <a:t> </a:t>
                </a:r>
                <a:r>
                  <a:rPr sz="2000" spc="-10" dirty="0">
                    <a:latin typeface="Cambria Math"/>
                    <a:cs typeface="Cambria Math"/>
                  </a:rPr>
                  <a:t>𝑔</a:t>
                </a:r>
                <a:r>
                  <a:rPr sz="1400" spc="-10" dirty="0">
                    <a:latin typeface="Cambria Math"/>
                    <a:cs typeface="Cambria Math"/>
                  </a:rPr>
                  <a:t>𝑚</a:t>
                </a:r>
                <a:r>
                  <a:rPr sz="2000" spc="-10" dirty="0">
                    <a:latin typeface="Cambria Math"/>
                    <a:cs typeface="Cambria Math"/>
                  </a:rPr>
                  <a:t>=𝐼𝑐/𝑉</a:t>
                </a:r>
                <a:r>
                  <a:rPr sz="1400" spc="-10" dirty="0">
                    <a:latin typeface="Cambria Math"/>
                    <a:cs typeface="Cambria Math"/>
                  </a:rPr>
                  <a:t>𝑇</a:t>
                </a:r>
                <a:r>
                  <a:rPr sz="2000" spc="-10" dirty="0">
                    <a:latin typeface="Cambria Math"/>
                    <a:cs typeface="Cambria Math"/>
                  </a:rPr>
                  <a:t>≈𝐼</a:t>
                </a:r>
                <a:r>
                  <a:rPr sz="1400" spc="-10" dirty="0">
                    <a:latin typeface="Cambria Math"/>
                    <a:cs typeface="Cambria Math"/>
                  </a:rPr>
                  <a:t>𝐸𝐸</a:t>
                </a:r>
                <a:r>
                  <a:rPr sz="2000" spc="-10" dirty="0">
                    <a:latin typeface="Cambria Math"/>
                    <a:cs typeface="Cambria Math"/>
                  </a:rPr>
                  <a:t>/2𝑉</a:t>
                </a:r>
                <a:r>
                  <a:rPr sz="1400" spc="-10" dirty="0">
                    <a:latin typeface="Cambria Math"/>
                    <a:cs typeface="Cambria Math"/>
                  </a:rPr>
                  <a:t>T</a:t>
                </a:r>
                <a:endParaRPr sz="1400" dirty="0">
                  <a:latin typeface="Cambria Math"/>
                  <a:cs typeface="Cambria Math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sz="2000" dirty="0">
                    <a:latin typeface="Cambria Math"/>
                    <a:cs typeface="Cambria Math"/>
                  </a:rPr>
                  <a:t>(𝑆𝑖𝑛𝑐𝑒</a:t>
                </a:r>
                <a:r>
                  <a:rPr sz="2000" spc="-3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𝑡ℎ𝑒</a:t>
                </a:r>
                <a:r>
                  <a:rPr sz="2000" spc="-5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𝑐𝑖𝑟𝑐𝑢𝑖𝑡</a:t>
                </a:r>
                <a:r>
                  <a:rPr sz="2000" spc="-2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𝑖𝑠</a:t>
                </a:r>
                <a:r>
                  <a:rPr sz="2000" spc="-40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𝑠𝑦𝑚𝑚𝑒𝑡𝑟𝑖𝑐𝑎𝑙,</a:t>
                </a:r>
                <a:r>
                  <a:rPr sz="2000" spc="10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𝐼</a:t>
                </a:r>
                <a:r>
                  <a:rPr sz="1400" dirty="0">
                    <a:latin typeface="Cambria Math"/>
                    <a:cs typeface="Cambria Math"/>
                  </a:rPr>
                  <a:t>𝐸𝐸</a:t>
                </a:r>
                <a:r>
                  <a:rPr sz="1400" spc="9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𝑐𝑢𝑟𝑟𝑒𝑛𝑡</a:t>
                </a:r>
                <a:r>
                  <a:rPr sz="2000" spc="-4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𝑠𝑝𝑙𝑖𝑡𝑠</a:t>
                </a:r>
                <a:r>
                  <a:rPr sz="2000" spc="-1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𝑒𝑞𝑢𝑎𝑙𝑙𝑦</a:t>
                </a:r>
                <a:r>
                  <a:rPr sz="2000" spc="-45" dirty="0">
                    <a:latin typeface="Cambria Math"/>
                    <a:cs typeface="Cambria Math"/>
                  </a:rPr>
                  <a:t> </a:t>
                </a:r>
                <a:r>
                  <a:rPr lang="en-IN" sz="2000" spc="-45" dirty="0">
                    <a:latin typeface="Cambria Math"/>
                    <a:cs typeface="Cambria Math"/>
                  </a:rPr>
                  <a:t>from</a:t>
                </a:r>
                <a:r>
                  <a:rPr sz="2000" spc="-5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𝑡ℎ𝑒</a:t>
                </a:r>
                <a:r>
                  <a:rPr sz="2000" spc="-5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𝑒𝑚𝑖𝑡𝑡𝑒𝑟</a:t>
                </a:r>
                <a:r>
                  <a:rPr sz="2000" spc="-60" dirty="0">
                    <a:latin typeface="Cambria Math"/>
                    <a:cs typeface="Cambria Math"/>
                  </a:rPr>
                  <a:t> </a:t>
                </a:r>
                <a:r>
                  <a:rPr sz="2000" spc="-10" dirty="0">
                    <a:latin typeface="Cambria Math"/>
                    <a:cs typeface="Cambria Math"/>
                  </a:rPr>
                  <a:t>𝑐𝑢𝑟𝑟𝑒𝑛𝑡𝑠)</a:t>
                </a:r>
                <a:endParaRPr sz="2000" dirty="0">
                  <a:latin typeface="Cambria Math"/>
                  <a:cs typeface="Cambria Math"/>
                </a:endParaRPr>
              </a:p>
              <a:p>
                <a:pPr>
                  <a:lnSpc>
                    <a:spcPct val="100000"/>
                  </a:lnSpc>
                  <a:spcBef>
                    <a:spcPts val="55"/>
                  </a:spcBef>
                </a:pPr>
                <a:endParaRPr sz="2000" dirty="0">
                  <a:latin typeface="Cambria Math"/>
                  <a:cs typeface="Cambria Math"/>
                </a:endParaRPr>
              </a:p>
              <a:p>
                <a:pPr marL="12700" marR="4465320">
                  <a:lnSpc>
                    <a:spcPct val="100000"/>
                  </a:lnSpc>
                </a:pPr>
                <a:r>
                  <a:rPr sz="2000" dirty="0">
                    <a:latin typeface="Times New Roman"/>
                    <a:cs typeface="Times New Roman"/>
                  </a:rPr>
                  <a:t>Now</a:t>
                </a:r>
                <a:r>
                  <a:rPr sz="2000" spc="-3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across</a:t>
                </a:r>
                <a:r>
                  <a:rPr sz="2000" spc="-3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𝑅</a:t>
                </a:r>
                <a:r>
                  <a:rPr sz="1400" dirty="0">
                    <a:latin typeface="Cambria Math"/>
                    <a:cs typeface="Cambria Math"/>
                  </a:rPr>
                  <a:t>𝐸</a:t>
                </a:r>
                <a:r>
                  <a:rPr sz="1400" spc="10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,</a:t>
                </a:r>
                <a:r>
                  <a:rPr sz="2000" spc="-4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𝑉</a:t>
                </a:r>
                <a:r>
                  <a:rPr sz="1400" dirty="0">
                    <a:latin typeface="Cambria Math"/>
                    <a:cs typeface="Cambria Math"/>
                  </a:rPr>
                  <a:t>2</a:t>
                </a:r>
                <a:r>
                  <a:rPr sz="1400" spc="10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≈𝐼</a:t>
                </a:r>
                <a:r>
                  <a:rPr sz="1400" dirty="0">
                    <a:latin typeface="Cambria Math"/>
                    <a:cs typeface="Cambria Math"/>
                  </a:rPr>
                  <a:t>𝐸𝐸</a:t>
                </a:r>
                <a:r>
                  <a:rPr sz="2000" dirty="0">
                    <a:latin typeface="Cambria Math"/>
                    <a:cs typeface="Cambria Math"/>
                  </a:rPr>
                  <a:t>⋅𝑅</a:t>
                </a:r>
                <a:r>
                  <a:rPr sz="1400" dirty="0">
                    <a:latin typeface="Cambria Math"/>
                    <a:cs typeface="Cambria Math"/>
                  </a:rPr>
                  <a:t>𝐸</a:t>
                </a:r>
                <a:r>
                  <a:rPr sz="2000" dirty="0">
                    <a:latin typeface="Times New Roman"/>
                    <a:cs typeface="Times New Roman"/>
                  </a:rPr>
                  <a:t>,</a:t>
                </a:r>
                <a:r>
                  <a:rPr sz="2000" spc="3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(Ignoring</a:t>
                </a:r>
                <a:r>
                  <a:rPr sz="2000" spc="-2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drop</a:t>
                </a:r>
                <a:r>
                  <a:rPr sz="2000" spc="-6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of</a:t>
                </a:r>
                <a:r>
                  <a:rPr sz="2000" spc="-5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0.7</a:t>
                </a:r>
                <a:r>
                  <a:rPr sz="2000" spc="-4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for</a:t>
                </a:r>
                <a:r>
                  <a:rPr sz="2000" spc="-3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high value</a:t>
                </a:r>
                <a:r>
                  <a:rPr sz="2000" spc="-1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of</a:t>
                </a:r>
                <a:r>
                  <a:rPr sz="2000" spc="-50" dirty="0">
                    <a:latin typeface="Times New Roman"/>
                    <a:cs typeface="Times New Roman"/>
                  </a:rPr>
                  <a:t> </a:t>
                </a:r>
                <a:r>
                  <a:rPr sz="2000" spc="-10" dirty="0">
                    <a:latin typeface="Times New Roman"/>
                    <a:cs typeface="Times New Roman"/>
                  </a:rPr>
                  <a:t>(assumption)) </a:t>
                </a:r>
                <a:r>
                  <a:rPr sz="2000" dirty="0">
                    <a:latin typeface="Times New Roman"/>
                    <a:cs typeface="Times New Roman"/>
                  </a:rPr>
                  <a:t>substituting</a:t>
                </a:r>
                <a:r>
                  <a:rPr sz="2000" spc="-1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for</a:t>
                </a:r>
                <a:r>
                  <a:rPr sz="2000" spc="-3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𝐼</a:t>
                </a:r>
                <a:r>
                  <a:rPr sz="2000" baseline="-25000" dirty="0">
                    <a:latin typeface="Cambria Math"/>
                    <a:cs typeface="Cambria Math"/>
                  </a:rPr>
                  <a:t>𝐸𝐸</a:t>
                </a:r>
                <a:r>
                  <a:rPr sz="2000" spc="-2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in</a:t>
                </a:r>
                <a:r>
                  <a:rPr sz="2000" spc="-4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the</a:t>
                </a:r>
                <a:r>
                  <a:rPr sz="2000" spc="-4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expression</a:t>
                </a:r>
                <a:r>
                  <a:rPr sz="2000" spc="-4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for</a:t>
                </a:r>
                <a:r>
                  <a:rPr sz="2000" spc="-4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𝑔</a:t>
                </a:r>
                <a:r>
                  <a:rPr sz="2000" baseline="-25000" dirty="0">
                    <a:latin typeface="Cambria Math"/>
                    <a:cs typeface="Cambria Math"/>
                  </a:rPr>
                  <a:t>𝑚</a:t>
                </a:r>
                <a:r>
                  <a:rPr sz="2000" spc="-40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we</a:t>
                </a:r>
                <a:r>
                  <a:rPr sz="2000" spc="20" dirty="0">
                    <a:latin typeface="Times New Roman"/>
                    <a:cs typeface="Times New Roman"/>
                  </a:rPr>
                  <a:t> </a:t>
                </a:r>
                <a:r>
                  <a:rPr sz="2000" spc="-20" dirty="0">
                    <a:latin typeface="Times New Roman"/>
                    <a:cs typeface="Times New Roman"/>
                  </a:rPr>
                  <a:t>get,</a:t>
                </a:r>
                <a:endParaRPr sz="20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105"/>
                  </a:spcBef>
                </a:pPr>
                <a:endParaRPr sz="2000" dirty="0">
                  <a:latin typeface="Times New Roman"/>
                  <a:cs typeface="Times New Roman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sz="2000" dirty="0">
                    <a:latin typeface="Cambria Math"/>
                    <a:cs typeface="Cambria Math"/>
                  </a:rPr>
                  <a:t>𝑔</a:t>
                </a:r>
                <a:r>
                  <a:rPr sz="1400" dirty="0">
                    <a:latin typeface="Cambria Math"/>
                    <a:cs typeface="Cambria Math"/>
                  </a:rPr>
                  <a:t>𝑚</a:t>
                </a:r>
                <a:r>
                  <a:rPr sz="1400" spc="8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=</a:t>
                </a:r>
                <a:r>
                  <a:rPr sz="2000" spc="-30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𝑉</a:t>
                </a:r>
                <a:r>
                  <a:rPr sz="1600" dirty="0">
                    <a:latin typeface="Cambria Math"/>
                    <a:cs typeface="Cambria Math"/>
                  </a:rPr>
                  <a:t>2</a:t>
                </a:r>
                <a:r>
                  <a:rPr sz="2000" dirty="0">
                    <a:latin typeface="Cambria Math"/>
                    <a:cs typeface="Cambria Math"/>
                  </a:rPr>
                  <a:t>/2𝑅</a:t>
                </a:r>
                <a:r>
                  <a:rPr sz="1400" dirty="0">
                    <a:latin typeface="Cambria Math"/>
                    <a:cs typeface="Cambria Math"/>
                  </a:rPr>
                  <a:t>𝐸</a:t>
                </a:r>
                <a:r>
                  <a:rPr sz="2000" dirty="0">
                    <a:latin typeface="Cambria Math"/>
                    <a:cs typeface="Cambria Math"/>
                  </a:rPr>
                  <a:t>𝑉</a:t>
                </a:r>
                <a:r>
                  <a:rPr sz="1400" dirty="0">
                    <a:latin typeface="Cambria Math"/>
                    <a:cs typeface="Cambria Math"/>
                  </a:rPr>
                  <a:t>𝑇</a:t>
                </a:r>
                <a:r>
                  <a:rPr sz="2000" dirty="0">
                    <a:latin typeface="Times New Roman"/>
                    <a:cs typeface="Times New Roman"/>
                  </a:rPr>
                  <a:t>,</a:t>
                </a:r>
                <a:r>
                  <a:rPr sz="2000" spc="-4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substituting</a:t>
                </a:r>
                <a:r>
                  <a:rPr sz="2000" spc="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in</a:t>
                </a:r>
                <a:r>
                  <a:rPr sz="2000" spc="-6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the</a:t>
                </a:r>
                <a:r>
                  <a:rPr sz="2000" spc="-4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expression</a:t>
                </a:r>
                <a:r>
                  <a:rPr sz="2000" spc="-4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for</a:t>
                </a:r>
                <a:r>
                  <a:rPr sz="2000" spc="-1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𝑉</a:t>
                </a:r>
                <a:r>
                  <a:rPr sz="2000" baseline="-25000" dirty="0">
                    <a:latin typeface="Cambria Math"/>
                    <a:cs typeface="Cambria Math"/>
                  </a:rPr>
                  <a:t>𝑜𝑢𝑡</a:t>
                </a:r>
                <a:r>
                  <a:rPr sz="2000" spc="-45" baseline="-25000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we</a:t>
                </a:r>
                <a:r>
                  <a:rPr sz="2000" spc="-5" dirty="0">
                    <a:latin typeface="Times New Roman"/>
                    <a:cs typeface="Times New Roman"/>
                  </a:rPr>
                  <a:t> </a:t>
                </a:r>
                <a:r>
                  <a:rPr sz="2000" spc="-20" dirty="0">
                    <a:latin typeface="Times New Roman"/>
                    <a:cs typeface="Times New Roman"/>
                  </a:rPr>
                  <a:t>get,</a:t>
                </a:r>
                <a:endParaRPr sz="20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100"/>
                  </a:spcBef>
                </a:pPr>
                <a:endParaRPr sz="2000" dirty="0">
                  <a:latin typeface="Times New Roman"/>
                  <a:cs typeface="Times New Roman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5"/>
                  </a:spcBef>
                </a:pPr>
                <a:r>
                  <a:rPr sz="2000" dirty="0">
                    <a:latin typeface="Cambria Math"/>
                    <a:cs typeface="Cambria Math"/>
                  </a:rPr>
                  <a:t>𝑉</a:t>
                </a:r>
                <a:r>
                  <a:rPr sz="2000" baseline="-25000" dirty="0">
                    <a:latin typeface="Cambria Math"/>
                    <a:cs typeface="Cambria Math"/>
                  </a:rPr>
                  <a:t>𝑜𝑢𝑡</a:t>
                </a:r>
                <a:r>
                  <a:rPr sz="2000" spc="-4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=</a:t>
                </a:r>
                <a:r>
                  <a:rPr sz="2000" spc="-30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(𝑅</a:t>
                </a:r>
                <a:r>
                  <a:rPr sz="1400" dirty="0">
                    <a:latin typeface="Cambria Math"/>
                    <a:cs typeface="Cambria Math"/>
                  </a:rPr>
                  <a:t>𝐿</a:t>
                </a:r>
                <a:r>
                  <a:rPr sz="2000" dirty="0">
                    <a:latin typeface="Cambria Math"/>
                    <a:cs typeface="Cambria Math"/>
                  </a:rPr>
                  <a:t>/2𝑅</a:t>
                </a:r>
                <a:r>
                  <a:rPr sz="1400" dirty="0">
                    <a:latin typeface="Cambria Math"/>
                    <a:cs typeface="Cambria Math"/>
                  </a:rPr>
                  <a:t>𝐸</a:t>
                </a:r>
                <a:r>
                  <a:rPr sz="2000" dirty="0">
                    <a:latin typeface="Cambria Math"/>
                    <a:cs typeface="Cambria Math"/>
                  </a:rPr>
                  <a:t>𝑉</a:t>
                </a:r>
                <a:r>
                  <a:rPr sz="1400" dirty="0">
                    <a:latin typeface="Cambria Math"/>
                    <a:cs typeface="Cambria Math"/>
                  </a:rPr>
                  <a:t>𝑇</a:t>
                </a:r>
                <a:r>
                  <a:rPr sz="2000" dirty="0">
                    <a:latin typeface="Cambria Math"/>
                    <a:cs typeface="Cambria Math"/>
                  </a:rPr>
                  <a:t>)</a:t>
                </a:r>
                <a:r>
                  <a:rPr sz="2000" spc="-10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×𝑉</a:t>
                </a:r>
                <a:r>
                  <a:rPr sz="1400" dirty="0">
                    <a:latin typeface="Cambria Math"/>
                    <a:cs typeface="Cambria Math"/>
                  </a:rPr>
                  <a:t>1</a:t>
                </a:r>
                <a:r>
                  <a:rPr sz="2000" dirty="0">
                    <a:latin typeface="Cambria Math"/>
                    <a:cs typeface="Cambria Math"/>
                  </a:rPr>
                  <a:t>𝑉</a:t>
                </a:r>
                <a:r>
                  <a:rPr sz="1400" dirty="0">
                    <a:latin typeface="Cambria Math"/>
                    <a:cs typeface="Cambria Math"/>
                  </a:rPr>
                  <a:t>2</a:t>
                </a:r>
                <a:r>
                  <a:rPr sz="1400" spc="100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⇒</a:t>
                </a:r>
                <a:r>
                  <a:rPr sz="2000" spc="-2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𝑉</a:t>
                </a:r>
                <a:r>
                  <a:rPr sz="2000" baseline="-25000" dirty="0">
                    <a:latin typeface="Cambria Math"/>
                    <a:cs typeface="Cambria Math"/>
                  </a:rPr>
                  <a:t>𝑜𝑢𝑡</a:t>
                </a:r>
                <a:r>
                  <a:rPr sz="2000" spc="-3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=</a:t>
                </a:r>
                <a:r>
                  <a:rPr sz="2000" spc="-25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Cambria Math"/>
                    <a:cs typeface="Cambria Math"/>
                  </a:rPr>
                  <a:t>𝐾⋅𝑉</a:t>
                </a:r>
                <a:r>
                  <a:rPr sz="1400" dirty="0">
                    <a:latin typeface="Cambria Math"/>
                    <a:cs typeface="Cambria Math"/>
                  </a:rPr>
                  <a:t>1</a:t>
                </a:r>
                <a:r>
                  <a:rPr sz="2000" dirty="0">
                    <a:latin typeface="Cambria Math"/>
                    <a:cs typeface="Cambria Math"/>
                  </a:rPr>
                  <a:t>𝑉</a:t>
                </a:r>
                <a:r>
                  <a:rPr sz="1400" dirty="0">
                    <a:latin typeface="Cambria Math"/>
                    <a:cs typeface="Cambria Math"/>
                  </a:rPr>
                  <a:t>2</a:t>
                </a:r>
                <a:r>
                  <a:rPr sz="1400" spc="130" dirty="0">
                    <a:latin typeface="Cambria Math"/>
                    <a:cs typeface="Cambria Math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,</a:t>
                </a:r>
                <a:r>
                  <a:rPr sz="2000" spc="-6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which</a:t>
                </a:r>
                <a:r>
                  <a:rPr sz="2000" spc="3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is</a:t>
                </a:r>
                <a:r>
                  <a:rPr sz="2000" spc="-5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a</a:t>
                </a:r>
                <a:r>
                  <a:rPr sz="2000" spc="-4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product</a:t>
                </a:r>
                <a:r>
                  <a:rPr sz="2000" spc="-6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of</a:t>
                </a:r>
                <a:r>
                  <a:rPr sz="2000" spc="-5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the</a:t>
                </a:r>
                <a:r>
                  <a:rPr sz="2000" spc="-4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two</a:t>
                </a:r>
                <a:r>
                  <a:rPr sz="2000" spc="10" dirty="0">
                    <a:latin typeface="Times New Roman"/>
                    <a:cs typeface="Times New Roman"/>
                  </a:rPr>
                  <a:t> </a:t>
                </a:r>
                <a:r>
                  <a:rPr sz="2000" spc="-10" dirty="0">
                    <a:latin typeface="Times New Roman"/>
                    <a:cs typeface="Times New Roman"/>
                  </a:rPr>
                  <a:t>signals.</a:t>
                </a:r>
                <a:endParaRPr sz="20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50"/>
                  </a:spcBef>
                </a:pPr>
                <a:endParaRPr sz="2000" dirty="0">
                  <a:latin typeface="Times New Roman"/>
                  <a:cs typeface="Times New Roman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sz="2000" dirty="0">
                    <a:latin typeface="Times New Roman"/>
                    <a:cs typeface="Times New Roman"/>
                  </a:rPr>
                  <a:t>This</a:t>
                </a:r>
                <a:r>
                  <a:rPr sz="2000" spc="-4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is</a:t>
                </a:r>
                <a:r>
                  <a:rPr sz="2000" spc="-3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a</a:t>
                </a:r>
                <a:r>
                  <a:rPr sz="2000" spc="-3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basic</a:t>
                </a:r>
                <a:r>
                  <a:rPr sz="2000" spc="-4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form</a:t>
                </a:r>
                <a:r>
                  <a:rPr sz="2000" spc="-2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of</a:t>
                </a:r>
                <a:r>
                  <a:rPr sz="2000" spc="-4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a</a:t>
                </a:r>
                <a:r>
                  <a:rPr sz="2000" spc="-4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discrete</a:t>
                </a:r>
                <a:r>
                  <a:rPr sz="2000" spc="-2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analog</a:t>
                </a:r>
                <a:r>
                  <a:rPr sz="2000" spc="-45" dirty="0">
                    <a:latin typeface="Times New Roman"/>
                    <a:cs typeface="Times New Roman"/>
                  </a:rPr>
                  <a:t> </a:t>
                </a:r>
                <a:r>
                  <a:rPr sz="2000" spc="-10" dirty="0">
                    <a:latin typeface="Times New Roman"/>
                    <a:cs typeface="Times New Roman"/>
                  </a:rPr>
                  <a:t>multiplier.</a:t>
                </a:r>
                <a:r>
                  <a:rPr sz="2000" spc="-2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The</a:t>
                </a:r>
                <a:r>
                  <a:rPr sz="2000" spc="-2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Gilbert</a:t>
                </a:r>
                <a:r>
                  <a:rPr sz="2000" spc="-5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cell</a:t>
                </a:r>
                <a:r>
                  <a:rPr sz="2000" spc="-4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is</a:t>
                </a:r>
                <a:r>
                  <a:rPr sz="2000" spc="-4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a</a:t>
                </a:r>
                <a:r>
                  <a:rPr sz="2000" spc="-3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modified version</a:t>
                </a:r>
                <a:r>
                  <a:rPr sz="2000" spc="-1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of</a:t>
                </a:r>
                <a:r>
                  <a:rPr sz="2000" spc="-50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the</a:t>
                </a:r>
                <a:r>
                  <a:rPr sz="2000" spc="-25" dirty="0">
                    <a:latin typeface="Times New Roman"/>
                    <a:cs typeface="Times New Roman"/>
                  </a:rPr>
                  <a:t> </a:t>
                </a:r>
                <a:r>
                  <a:rPr sz="2000" dirty="0">
                    <a:latin typeface="Times New Roman"/>
                    <a:cs typeface="Times New Roman"/>
                  </a:rPr>
                  <a:t>above</a:t>
                </a:r>
                <a:r>
                  <a:rPr sz="2000" spc="-30" dirty="0">
                    <a:latin typeface="Times New Roman"/>
                    <a:cs typeface="Times New Roman"/>
                  </a:rPr>
                  <a:t> </a:t>
                </a:r>
                <a:r>
                  <a:rPr sz="2000" spc="-10" dirty="0">
                    <a:latin typeface="Times New Roman"/>
                    <a:cs typeface="Times New Roman"/>
                  </a:rPr>
                  <a:t>multiplier.</a:t>
                </a:r>
                <a:endParaRPr sz="2000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83" y="1243710"/>
                <a:ext cx="12847320" cy="5320687"/>
              </a:xfrm>
              <a:prstGeom prst="rect">
                <a:avLst/>
              </a:prstGeom>
              <a:blipFill>
                <a:blip r:embed="rId2"/>
                <a:stretch>
                  <a:fillRect l="-1139" t="-1260" b="-1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2031" y="889669"/>
            <a:ext cx="4146985" cy="19394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800" b="1" u="sng" kern="1200" spc="-1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+mj-lt"/>
                <a:ea typeface="+mj-ea"/>
                <a:cs typeface="+mj-cs"/>
              </a:rPr>
              <a:t>Amplitude</a:t>
            </a:r>
            <a:r>
              <a:rPr lang="en-US" sz="3800" b="1" u="sng" kern="1200" spc="-19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+mj-lt"/>
                <a:ea typeface="+mj-ea"/>
                <a:cs typeface="+mj-cs"/>
              </a:rPr>
              <a:t> </a:t>
            </a:r>
            <a:r>
              <a:rPr lang="en-US" sz="3800" b="1" u="sng" kern="120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+mj-lt"/>
                <a:ea typeface="+mj-ea"/>
                <a:cs typeface="+mj-cs"/>
              </a:rPr>
              <a:t>Modulation</a:t>
            </a:r>
            <a:r>
              <a:rPr lang="en-US" sz="3800" b="1" u="sng" kern="1200" spc="-8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+mj-lt"/>
                <a:ea typeface="+mj-ea"/>
                <a:cs typeface="+mj-cs"/>
              </a:rPr>
              <a:t> </a:t>
            </a:r>
            <a:r>
              <a:rPr lang="en-US" sz="3800" b="1" u="sng" kern="1200" spc="-25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+mj-lt"/>
                <a:ea typeface="+mj-ea"/>
                <a:cs typeface="+mj-cs"/>
              </a:rPr>
              <a:t>Circuit</a:t>
            </a:r>
            <a:endParaRPr lang="en-US" sz="3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2031" y="3040171"/>
            <a:ext cx="4146985" cy="41373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marR="5080" indent="-228600" algn="l" rtl="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4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modulation</a:t>
            </a:r>
            <a:r>
              <a:rPr lang="en-US" sz="24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circuit</a:t>
            </a:r>
            <a:r>
              <a:rPr lang="en-US" sz="24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generates</a:t>
            </a:r>
            <a:r>
              <a:rPr lang="en-US" sz="24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</a:t>
            </a:r>
            <a:r>
              <a:rPr lang="en-US" sz="24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waves</a:t>
            </a:r>
            <a:r>
              <a:rPr lang="en-US" sz="24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US" sz="2400" kern="1200" spc="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multiplying</a:t>
            </a:r>
            <a:r>
              <a:rPr lang="en-US" sz="24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signals</a:t>
            </a:r>
            <a:r>
              <a:rPr lang="en-US" sz="24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4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adding</a:t>
            </a:r>
            <a:r>
              <a:rPr lang="en-US" sz="24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4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</a:t>
            </a:r>
            <a:r>
              <a:rPr lang="en-US" sz="24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carrier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en-US" sz="24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4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non-inverting</a:t>
            </a:r>
            <a:r>
              <a:rPr lang="en-US" sz="2400" kern="1200" spc="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op-amp</a:t>
            </a:r>
            <a:r>
              <a:rPr lang="en-US" sz="2400" kern="1200" spc="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adder</a:t>
            </a:r>
            <a:r>
              <a:rPr lang="en-US" sz="24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circuit.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A computer screen shot of a computer diagram&#10;&#10;AI-generated content may be incorrect.">
            <a:extLst>
              <a:ext uri="{FF2B5EF4-FFF2-40B4-BE49-F238E27FC236}">
                <a16:creationId xmlns:a16="http://schemas.microsoft.com/office/drawing/2014/main" id="{562A895C-2F18-35C7-8A35-EB726B80C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081263"/>
            <a:ext cx="8877020" cy="554813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4482365" y="0"/>
            <a:ext cx="148035" cy="82296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8470" rIns="0" bIns="0" rtlCol="0">
            <a:spAutoFit/>
          </a:bodyPr>
          <a:lstStyle/>
          <a:p>
            <a:pPr marL="514984">
              <a:lnSpc>
                <a:spcPct val="100000"/>
              </a:lnSpc>
              <a:spcBef>
                <a:spcPts val="90"/>
              </a:spcBef>
            </a:pPr>
            <a:r>
              <a:rPr sz="4450" u="sng" dirty="0">
                <a:uFill>
                  <a:solidFill>
                    <a:srgbClr val="000000"/>
                  </a:solidFill>
                </a:uFill>
              </a:rPr>
              <a:t>AM</a:t>
            </a:r>
            <a:r>
              <a:rPr sz="4450" u="sng" spc="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4450" u="sng" spc="95" dirty="0">
                <a:uFill>
                  <a:solidFill>
                    <a:srgbClr val="000000"/>
                  </a:solidFill>
                </a:uFill>
              </a:rPr>
              <a:t>Demodulation</a:t>
            </a:r>
            <a:endParaRPr sz="44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81304" y="1847214"/>
            <a:ext cx="7753096" cy="36817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The</a:t>
            </a:r>
            <a:r>
              <a:rPr spc="-95" dirty="0"/>
              <a:t> </a:t>
            </a:r>
            <a:r>
              <a:rPr dirty="0"/>
              <a:t>demodulation</a:t>
            </a:r>
            <a:r>
              <a:rPr spc="35" dirty="0"/>
              <a:t> </a:t>
            </a:r>
            <a:r>
              <a:rPr dirty="0"/>
              <a:t>circuit</a:t>
            </a:r>
            <a:r>
              <a:rPr spc="-95" dirty="0"/>
              <a:t> </a:t>
            </a:r>
            <a:r>
              <a:rPr dirty="0"/>
              <a:t>is</a:t>
            </a:r>
            <a:r>
              <a:rPr spc="6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relatively</a:t>
            </a:r>
            <a:r>
              <a:rPr spc="-114" dirty="0"/>
              <a:t> </a:t>
            </a:r>
            <a:r>
              <a:rPr dirty="0"/>
              <a:t>simple</a:t>
            </a:r>
            <a:r>
              <a:rPr spc="-10" dirty="0"/>
              <a:t> </a:t>
            </a:r>
            <a:r>
              <a:rPr dirty="0"/>
              <a:t>task</a:t>
            </a:r>
            <a:r>
              <a:rPr spc="-45" dirty="0"/>
              <a:t> </a:t>
            </a:r>
            <a:r>
              <a:rPr spc="-10" dirty="0"/>
              <a:t>where,</a:t>
            </a: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2200" spc="-20" dirty="0">
                <a:solidFill>
                  <a:srgbClr val="272424"/>
                </a:solidFill>
              </a:rPr>
              <a:t>Input</a:t>
            </a:r>
            <a:endParaRPr sz="2200" dirty="0"/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Receive</a:t>
            </a:r>
            <a:r>
              <a:rPr sz="1750" spc="-7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amplitude</a:t>
            </a:r>
            <a:r>
              <a:rPr sz="1750" spc="-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modulated</a:t>
            </a:r>
            <a:r>
              <a:rPr lang="en-IN"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(AM)</a:t>
            </a:r>
            <a:r>
              <a:rPr sz="1750" spc="-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signal</a:t>
            </a:r>
            <a:endParaRPr sz="17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2200" spc="35" dirty="0">
                <a:solidFill>
                  <a:srgbClr val="272424"/>
                </a:solidFill>
              </a:rPr>
              <a:t>Multiplier</a:t>
            </a:r>
            <a:endParaRPr sz="2200" dirty="0"/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1750" spc="-20" dirty="0">
                <a:solidFill>
                  <a:srgbClr val="272424"/>
                </a:solidFill>
                <a:latin typeface="Microsoft Sans Serif"/>
                <a:cs typeface="Microsoft Sans Serif"/>
              </a:rPr>
              <a:t>Product</a:t>
            </a:r>
            <a:r>
              <a:rPr sz="1750" spc="-8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with</a:t>
            </a:r>
            <a:r>
              <a:rPr sz="1750" spc="-114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local carrier</a:t>
            </a:r>
            <a:r>
              <a:rPr sz="175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signal</a:t>
            </a:r>
            <a:r>
              <a:rPr sz="1750" spc="2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using</a:t>
            </a:r>
            <a:r>
              <a:rPr sz="1750" spc="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750" spc="-6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multiplier</a:t>
            </a:r>
            <a:endParaRPr sz="17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200" spc="65" dirty="0">
                <a:solidFill>
                  <a:srgbClr val="272424"/>
                </a:solidFill>
              </a:rPr>
              <a:t>Low</a:t>
            </a:r>
            <a:r>
              <a:rPr sz="2200" spc="130" dirty="0">
                <a:solidFill>
                  <a:srgbClr val="272424"/>
                </a:solidFill>
              </a:rPr>
              <a:t> </a:t>
            </a:r>
            <a:r>
              <a:rPr sz="2200" spc="50" dirty="0">
                <a:solidFill>
                  <a:srgbClr val="272424"/>
                </a:solidFill>
              </a:rPr>
              <a:t>Pas</a:t>
            </a:r>
            <a:r>
              <a:rPr sz="2200" dirty="0">
                <a:solidFill>
                  <a:srgbClr val="272424"/>
                </a:solidFill>
              </a:rPr>
              <a:t>s</a:t>
            </a:r>
            <a:r>
              <a:rPr sz="2200" spc="295" dirty="0">
                <a:solidFill>
                  <a:srgbClr val="272424"/>
                </a:solidFill>
              </a:rPr>
              <a:t> </a:t>
            </a:r>
            <a:r>
              <a:rPr sz="2200" spc="40" dirty="0">
                <a:solidFill>
                  <a:srgbClr val="272424"/>
                </a:solidFill>
              </a:rPr>
              <a:t>Filter</a:t>
            </a:r>
            <a:endParaRPr sz="2200" dirty="0"/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-30" dirty="0">
                <a:solidFill>
                  <a:srgbClr val="272424"/>
                </a:solidFill>
                <a:latin typeface="Microsoft Sans Serif"/>
                <a:cs typeface="Microsoft Sans Serif"/>
              </a:rPr>
              <a:t>Passed</a:t>
            </a:r>
            <a:r>
              <a:rPr sz="17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through</a:t>
            </a:r>
            <a:r>
              <a:rPr sz="1750" spc="-12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a</a:t>
            </a:r>
            <a:r>
              <a:rPr sz="1750" spc="-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simple</a:t>
            </a:r>
            <a:r>
              <a:rPr sz="1750" spc="-1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low</a:t>
            </a:r>
            <a:r>
              <a:rPr sz="1750" spc="-10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pass</a:t>
            </a:r>
            <a:r>
              <a:rPr sz="1750" spc="6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filter</a:t>
            </a:r>
            <a:r>
              <a:rPr sz="1750" spc="-5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which</a:t>
            </a:r>
            <a:r>
              <a:rPr sz="17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lang="en-IN" sz="17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r</a:t>
            </a:r>
            <a:r>
              <a:rPr sz="1750" dirty="0" err="1">
                <a:solidFill>
                  <a:srgbClr val="272424"/>
                </a:solidFill>
                <a:latin typeface="Microsoft Sans Serif"/>
                <a:cs typeface="Microsoft Sans Serif"/>
              </a:rPr>
              <a:t>emove</a:t>
            </a:r>
            <a:r>
              <a:rPr lang="en-IN"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s the</a:t>
            </a:r>
            <a:r>
              <a:rPr sz="1750" spc="-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high</a:t>
            </a:r>
            <a:r>
              <a:rPr sz="1750" spc="-9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 err="1">
                <a:solidFill>
                  <a:srgbClr val="272424"/>
                </a:solidFill>
                <a:latin typeface="Microsoft Sans Serif"/>
                <a:cs typeface="Microsoft Sans Serif"/>
              </a:rPr>
              <a:t>frequenc</a:t>
            </a:r>
            <a:r>
              <a:rPr lang="en-IN" sz="17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y component</a:t>
            </a:r>
            <a:endParaRPr sz="175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304" y="5982970"/>
            <a:ext cx="8494140" cy="7886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4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Mes</a:t>
            </a:r>
            <a:r>
              <a:rPr sz="220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</a:t>
            </a:r>
            <a:r>
              <a:rPr sz="22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age</a:t>
            </a:r>
            <a:r>
              <a:rPr lang="en-IN" sz="22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200" spc="5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Signal</a:t>
            </a:r>
            <a:endParaRPr sz="2200" dirty="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Generates</a:t>
            </a:r>
            <a:r>
              <a:rPr sz="1750" spc="10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the</a:t>
            </a:r>
            <a:r>
              <a:rPr sz="1750" spc="-10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272424"/>
                </a:solidFill>
                <a:latin typeface="Microsoft Sans Serif"/>
                <a:cs typeface="Microsoft Sans Serif"/>
              </a:rPr>
              <a:t>messenger</a:t>
            </a:r>
            <a:r>
              <a:rPr sz="1750" spc="75" dirty="0">
                <a:solidFill>
                  <a:srgbClr val="272424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icrosoft Sans Serif"/>
                <a:cs typeface="Microsoft Sans Serif"/>
              </a:rPr>
              <a:t>signal</a:t>
            </a:r>
            <a:endParaRPr sz="1750" dirty="0">
              <a:latin typeface="Microsoft Sans Serif"/>
              <a:cs typeface="Microsoft Sans Serif"/>
            </a:endParaRPr>
          </a:p>
        </p:txBody>
      </p:sp>
      <p:pic>
        <p:nvPicPr>
          <p:cNvPr id="8" name="Picture 7" descr="A diagram of a circuit&#10;&#10;AI-generated content may be incorrect.">
            <a:extLst>
              <a:ext uri="{FF2B5EF4-FFF2-40B4-BE49-F238E27FC236}">
                <a16:creationId xmlns:a16="http://schemas.microsoft.com/office/drawing/2014/main" id="{F0376067-4C91-AFB6-62BD-48ECEF1BA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180436"/>
            <a:ext cx="5846444" cy="50153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E4F74E-1901-88A2-2A5A-C1A7E6706AB4}"/>
              </a:ext>
            </a:extLst>
          </p:cNvPr>
          <p:cNvSpPr txBox="1"/>
          <p:nvPr/>
        </p:nvSpPr>
        <p:spPr>
          <a:xfrm>
            <a:off x="9753600" y="6377308"/>
            <a:ext cx="5770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/>
              <a:t>Demodulation Circuit</a:t>
            </a:r>
            <a:endParaRPr lang="en-IN" sz="2400" u="sng" dirty="0"/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52400" y="-37352"/>
            <a:ext cx="11031499" cy="1149985"/>
          </a:xfrm>
          <a:prstGeom prst="rect">
            <a:avLst/>
          </a:prstGeom>
        </p:spPr>
        <p:txBody>
          <a:bodyPr vert="horz" wrap="square" lIns="0" tIns="187884" rIns="0" bIns="0" rtlCol="0">
            <a:spAutoFit/>
          </a:bodyPr>
          <a:lstStyle/>
          <a:p>
            <a:pPr marL="432434">
              <a:lnSpc>
                <a:spcPct val="100000"/>
              </a:lnSpc>
              <a:spcBef>
                <a:spcPts val="90"/>
              </a:spcBef>
            </a:pPr>
            <a:r>
              <a:rPr sz="3200" b="1" u="sng" spc="1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RESULT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3278142"/>
            <a:ext cx="676020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dirty="0">
                <a:latin typeface="Calibri"/>
                <a:cs typeface="Calibri"/>
              </a:rPr>
              <a:t>Message Signal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6BCA27-BA48-E945-AD18-DE09FABEA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810000"/>
            <a:ext cx="13411200" cy="33525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BFA42C-8FC4-D3B6-38B9-741BF4694A93}"/>
              </a:ext>
            </a:extLst>
          </p:cNvPr>
          <p:cNvSpPr txBox="1"/>
          <p:nvPr/>
        </p:nvSpPr>
        <p:spPr>
          <a:xfrm>
            <a:off x="175054" y="7474823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Carrier Signal</a:t>
            </a:r>
            <a:endParaRPr lang="en-IN" sz="2400" dirty="0"/>
          </a:p>
        </p:txBody>
      </p:sp>
      <p:pic>
        <p:nvPicPr>
          <p:cNvPr id="11" name="Picture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390C946-792D-B04D-E90E-D372A33A4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49" y="833304"/>
            <a:ext cx="14020800" cy="230694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1D9C1-0D3A-1852-E458-B27A1F362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78408"/>
            <a:ext cx="11081587" cy="430887"/>
          </a:xfrm>
        </p:spPr>
        <p:txBody>
          <a:bodyPr/>
          <a:lstStyle/>
          <a:p>
            <a:r>
              <a:rPr lang="en-GB" sz="2800" dirty="0"/>
              <a:t>AM(Amplitude Modulated Signal</a:t>
            </a:r>
            <a:endParaRPr lang="en-IN" sz="2800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2FCA0F-8ECF-3CB5-0F45-E9E232352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143000"/>
            <a:ext cx="13975492" cy="3886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ABF2CF-C374-7B94-600E-573910EBE0AE}"/>
              </a:ext>
            </a:extLst>
          </p:cNvPr>
          <p:cNvSpPr txBox="1"/>
          <p:nvPr/>
        </p:nvSpPr>
        <p:spPr>
          <a:xfrm>
            <a:off x="168693" y="5257800"/>
            <a:ext cx="1120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/>
              <a:t>Demodulated Signal</a:t>
            </a:r>
          </a:p>
        </p:txBody>
      </p:sp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652634B-70BB-9167-F371-F9A218704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948065"/>
            <a:ext cx="14142308" cy="21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7413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" y="378408"/>
            <a:ext cx="9542780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318510" algn="l"/>
              </a:tabLst>
            </a:pPr>
            <a:r>
              <a:rPr sz="4450" spc="95" dirty="0"/>
              <a:t>Advantages</a:t>
            </a:r>
            <a:r>
              <a:rPr sz="4450" dirty="0"/>
              <a:t>	Over</a:t>
            </a:r>
            <a:r>
              <a:rPr sz="4450" spc="265" dirty="0"/>
              <a:t> </a:t>
            </a:r>
            <a:r>
              <a:rPr sz="4450" dirty="0"/>
              <a:t>E</a:t>
            </a:r>
            <a:r>
              <a:rPr sz="4450" spc="90" dirty="0"/>
              <a:t>nvelope</a:t>
            </a:r>
            <a:r>
              <a:rPr sz="4450" spc="190" dirty="0"/>
              <a:t> </a:t>
            </a:r>
            <a:r>
              <a:rPr sz="4450" spc="35" dirty="0"/>
              <a:t>Detector</a:t>
            </a:r>
            <a:endParaRPr sz="4450" dirty="0"/>
          </a:p>
        </p:txBody>
      </p:sp>
      <p:grpSp>
        <p:nvGrpSpPr>
          <p:cNvPr id="3" name="object 3"/>
          <p:cNvGrpSpPr/>
          <p:nvPr/>
        </p:nvGrpSpPr>
        <p:grpSpPr>
          <a:xfrm>
            <a:off x="152400" y="1315872"/>
            <a:ext cx="13964418" cy="2487295"/>
            <a:chOff x="262127" y="2221992"/>
            <a:chExt cx="4239895" cy="2487295"/>
          </a:xfrm>
        </p:grpSpPr>
        <p:sp>
          <p:nvSpPr>
            <p:cNvPr id="4" name="object 4"/>
            <p:cNvSpPr/>
            <p:nvPr/>
          </p:nvSpPr>
          <p:spPr>
            <a:xfrm>
              <a:off x="292607" y="2237232"/>
              <a:ext cx="4194175" cy="2456815"/>
            </a:xfrm>
            <a:custGeom>
              <a:avLst/>
              <a:gdLst/>
              <a:ahLst/>
              <a:cxnLst/>
              <a:rect l="l" t="t" r="r" b="b"/>
              <a:pathLst>
                <a:path w="4194175" h="2456815">
                  <a:moveTo>
                    <a:pt x="0" y="146303"/>
                  </a:moveTo>
                  <a:lnTo>
                    <a:pt x="7459" y="100071"/>
                  </a:lnTo>
                  <a:lnTo>
                    <a:pt x="28230" y="59911"/>
                  </a:lnTo>
                  <a:lnTo>
                    <a:pt x="59903" y="28236"/>
                  </a:lnTo>
                  <a:lnTo>
                    <a:pt x="100068" y="7461"/>
                  </a:lnTo>
                  <a:lnTo>
                    <a:pt x="146316" y="0"/>
                  </a:lnTo>
                  <a:lnTo>
                    <a:pt x="4047743" y="0"/>
                  </a:lnTo>
                  <a:lnTo>
                    <a:pt x="4093976" y="7461"/>
                  </a:lnTo>
                  <a:lnTo>
                    <a:pt x="4134136" y="28236"/>
                  </a:lnTo>
                  <a:lnTo>
                    <a:pt x="4165811" y="59911"/>
                  </a:lnTo>
                  <a:lnTo>
                    <a:pt x="4186586" y="100071"/>
                  </a:lnTo>
                  <a:lnTo>
                    <a:pt x="4194047" y="146303"/>
                  </a:lnTo>
                  <a:lnTo>
                    <a:pt x="4194047" y="2310383"/>
                  </a:lnTo>
                  <a:lnTo>
                    <a:pt x="4186586" y="2356616"/>
                  </a:lnTo>
                  <a:lnTo>
                    <a:pt x="4165811" y="2396776"/>
                  </a:lnTo>
                  <a:lnTo>
                    <a:pt x="4134136" y="2428451"/>
                  </a:lnTo>
                  <a:lnTo>
                    <a:pt x="4093976" y="2449226"/>
                  </a:lnTo>
                  <a:lnTo>
                    <a:pt x="4047743" y="2456688"/>
                  </a:lnTo>
                  <a:lnTo>
                    <a:pt x="146316" y="2456688"/>
                  </a:lnTo>
                  <a:lnTo>
                    <a:pt x="100068" y="2449226"/>
                  </a:lnTo>
                  <a:lnTo>
                    <a:pt x="59903" y="2428451"/>
                  </a:lnTo>
                  <a:lnTo>
                    <a:pt x="28230" y="2396776"/>
                  </a:lnTo>
                  <a:lnTo>
                    <a:pt x="7459" y="2356616"/>
                  </a:lnTo>
                  <a:lnTo>
                    <a:pt x="0" y="2310383"/>
                  </a:lnTo>
                  <a:lnTo>
                    <a:pt x="0" y="146303"/>
                  </a:lnTo>
                  <a:close/>
                </a:path>
              </a:pathLst>
            </a:custGeom>
            <a:ln w="3048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2127" y="2237232"/>
              <a:ext cx="121920" cy="2456815"/>
            </a:xfrm>
            <a:custGeom>
              <a:avLst/>
              <a:gdLst/>
              <a:ahLst/>
              <a:cxnLst/>
              <a:rect l="l" t="t" r="r" b="b"/>
              <a:pathLst>
                <a:path w="121920" h="2456815">
                  <a:moveTo>
                    <a:pt x="60960" y="0"/>
                  </a:moveTo>
                  <a:lnTo>
                    <a:pt x="37231" y="4792"/>
                  </a:lnTo>
                  <a:lnTo>
                    <a:pt x="17854" y="17859"/>
                  </a:lnTo>
                  <a:lnTo>
                    <a:pt x="4790" y="37236"/>
                  </a:lnTo>
                  <a:lnTo>
                    <a:pt x="0" y="60959"/>
                  </a:lnTo>
                  <a:lnTo>
                    <a:pt x="0" y="2395728"/>
                  </a:lnTo>
                  <a:lnTo>
                    <a:pt x="4790" y="2419451"/>
                  </a:lnTo>
                  <a:lnTo>
                    <a:pt x="17854" y="2438828"/>
                  </a:lnTo>
                  <a:lnTo>
                    <a:pt x="37231" y="2451895"/>
                  </a:lnTo>
                  <a:lnTo>
                    <a:pt x="60960" y="2456688"/>
                  </a:lnTo>
                  <a:lnTo>
                    <a:pt x="84688" y="2451895"/>
                  </a:lnTo>
                  <a:lnTo>
                    <a:pt x="104065" y="2438828"/>
                  </a:lnTo>
                  <a:lnTo>
                    <a:pt x="117129" y="2419451"/>
                  </a:lnTo>
                  <a:lnTo>
                    <a:pt x="121919" y="2395728"/>
                  </a:lnTo>
                  <a:lnTo>
                    <a:pt x="121919" y="60959"/>
                  </a:lnTo>
                  <a:lnTo>
                    <a:pt x="117129" y="37236"/>
                  </a:lnTo>
                  <a:lnTo>
                    <a:pt x="104065" y="17859"/>
                  </a:lnTo>
                  <a:lnTo>
                    <a:pt x="84688" y="4792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02640" y="4343400"/>
            <a:ext cx="13065760" cy="14292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u="sng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Signal</a:t>
            </a:r>
            <a:r>
              <a:rPr sz="2200" u="sng" spc="33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200" u="sng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Vers</a:t>
            </a:r>
            <a:r>
              <a:rPr sz="2200" u="sng" spc="4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atility</a:t>
            </a:r>
            <a:endParaRPr sz="2200" u="sng" dirty="0">
              <a:latin typeface="Malgun Gothic Semilight"/>
              <a:cs typeface="Malgun Gothic Semilight"/>
            </a:endParaRPr>
          </a:p>
          <a:p>
            <a:pPr marL="20320">
              <a:lnSpc>
                <a:spcPct val="100000"/>
              </a:lnSpc>
              <a:spcBef>
                <a:spcPts val="2105"/>
              </a:spcBef>
            </a:pP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Product</a:t>
            </a:r>
            <a:r>
              <a:rPr sz="1750" spc="-1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detector</a:t>
            </a:r>
            <a:r>
              <a:rPr sz="1750" spc="-9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works</a:t>
            </a:r>
            <a:r>
              <a:rPr sz="1750" spc="5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with</a:t>
            </a:r>
            <a:r>
              <a:rPr sz="1750" spc="-18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AM,</a:t>
            </a:r>
            <a:r>
              <a:rPr sz="1750" spc="-1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DSB-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SC</a:t>
            </a:r>
            <a:r>
              <a:rPr lang="en-IN"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(Double sideband suppressed carrier)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,</a:t>
            </a:r>
            <a:r>
              <a:rPr sz="1750" spc="229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and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SSB</a:t>
            </a:r>
            <a:r>
              <a:rPr sz="1750" spc="14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signals.</a:t>
            </a:r>
            <a:r>
              <a:rPr sz="1750" spc="14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endParaRPr lang="en-IN" sz="1750" spc="145" dirty="0">
              <a:solidFill>
                <a:srgbClr val="272424"/>
              </a:solidFill>
              <a:latin typeface="Malgun Gothic Semilight"/>
              <a:cs typeface="Malgun Gothic Semilight"/>
            </a:endParaRPr>
          </a:p>
          <a:p>
            <a:pPr marL="20320">
              <a:lnSpc>
                <a:spcPct val="100000"/>
              </a:lnSpc>
              <a:spcBef>
                <a:spcPts val="2105"/>
              </a:spcBef>
            </a:pP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Envelope detector</a:t>
            </a:r>
            <a:r>
              <a:rPr sz="1750" spc="-9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only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handles</a:t>
            </a:r>
            <a:r>
              <a:rPr sz="1750" spc="1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AM</a:t>
            </a:r>
            <a:r>
              <a:rPr sz="1750" spc="-9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signals.</a:t>
            </a:r>
            <a:endParaRPr sz="1750" dirty="0">
              <a:latin typeface="Malgun Gothic Semilight"/>
              <a:cs typeface="Malgun Gothic Semiligh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4679" y="4130040"/>
            <a:ext cx="13818299" cy="1889761"/>
            <a:chOff x="5187696" y="4828031"/>
            <a:chExt cx="4224655" cy="1889761"/>
          </a:xfrm>
        </p:grpSpPr>
        <p:sp>
          <p:nvSpPr>
            <p:cNvPr id="8" name="object 8"/>
            <p:cNvSpPr/>
            <p:nvPr/>
          </p:nvSpPr>
          <p:spPr>
            <a:xfrm>
              <a:off x="5218176" y="4828032"/>
              <a:ext cx="4194175" cy="1889760"/>
            </a:xfrm>
            <a:custGeom>
              <a:avLst/>
              <a:gdLst/>
              <a:ahLst/>
              <a:cxnLst/>
              <a:rect l="l" t="t" r="r" b="b"/>
              <a:pathLst>
                <a:path w="4194175" h="2456815">
                  <a:moveTo>
                    <a:pt x="0" y="146303"/>
                  </a:moveTo>
                  <a:lnTo>
                    <a:pt x="7461" y="100071"/>
                  </a:lnTo>
                  <a:lnTo>
                    <a:pt x="28236" y="59911"/>
                  </a:lnTo>
                  <a:lnTo>
                    <a:pt x="59911" y="28236"/>
                  </a:lnTo>
                  <a:lnTo>
                    <a:pt x="100071" y="7461"/>
                  </a:lnTo>
                  <a:lnTo>
                    <a:pt x="146303" y="0"/>
                  </a:lnTo>
                  <a:lnTo>
                    <a:pt x="4047744" y="0"/>
                  </a:lnTo>
                  <a:lnTo>
                    <a:pt x="4093976" y="7461"/>
                  </a:lnTo>
                  <a:lnTo>
                    <a:pt x="4134136" y="28236"/>
                  </a:lnTo>
                  <a:lnTo>
                    <a:pt x="4165811" y="59911"/>
                  </a:lnTo>
                  <a:lnTo>
                    <a:pt x="4186586" y="100071"/>
                  </a:lnTo>
                  <a:lnTo>
                    <a:pt x="4194048" y="146303"/>
                  </a:lnTo>
                  <a:lnTo>
                    <a:pt x="4194048" y="2310371"/>
                  </a:lnTo>
                  <a:lnTo>
                    <a:pt x="4186586" y="2356619"/>
                  </a:lnTo>
                  <a:lnTo>
                    <a:pt x="4165811" y="2396784"/>
                  </a:lnTo>
                  <a:lnTo>
                    <a:pt x="4134136" y="2428457"/>
                  </a:lnTo>
                  <a:lnTo>
                    <a:pt x="4093976" y="2449228"/>
                  </a:lnTo>
                  <a:lnTo>
                    <a:pt x="4047744" y="2456687"/>
                  </a:lnTo>
                  <a:lnTo>
                    <a:pt x="146303" y="2456687"/>
                  </a:lnTo>
                  <a:lnTo>
                    <a:pt x="100071" y="2449228"/>
                  </a:lnTo>
                  <a:lnTo>
                    <a:pt x="59911" y="2428457"/>
                  </a:lnTo>
                  <a:lnTo>
                    <a:pt x="28236" y="2396784"/>
                  </a:lnTo>
                  <a:lnTo>
                    <a:pt x="7461" y="2356619"/>
                  </a:lnTo>
                  <a:lnTo>
                    <a:pt x="0" y="2310371"/>
                  </a:lnTo>
                  <a:lnTo>
                    <a:pt x="0" y="146303"/>
                  </a:lnTo>
                  <a:close/>
                </a:path>
              </a:pathLst>
            </a:custGeom>
            <a:ln w="3048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87696" y="4828031"/>
              <a:ext cx="121920" cy="1889761"/>
            </a:xfrm>
            <a:custGeom>
              <a:avLst/>
              <a:gdLst/>
              <a:ahLst/>
              <a:cxnLst/>
              <a:rect l="l" t="t" r="r" b="b"/>
              <a:pathLst>
                <a:path w="121920" h="2456815">
                  <a:moveTo>
                    <a:pt x="60959" y="0"/>
                  </a:moveTo>
                  <a:lnTo>
                    <a:pt x="37236" y="4792"/>
                  </a:lnTo>
                  <a:lnTo>
                    <a:pt x="17859" y="17859"/>
                  </a:lnTo>
                  <a:lnTo>
                    <a:pt x="4792" y="37236"/>
                  </a:lnTo>
                  <a:lnTo>
                    <a:pt x="0" y="60959"/>
                  </a:lnTo>
                  <a:lnTo>
                    <a:pt x="0" y="2395728"/>
                  </a:lnTo>
                  <a:lnTo>
                    <a:pt x="4792" y="2419456"/>
                  </a:lnTo>
                  <a:lnTo>
                    <a:pt x="17859" y="2438833"/>
                  </a:lnTo>
                  <a:lnTo>
                    <a:pt x="37236" y="2451897"/>
                  </a:lnTo>
                  <a:lnTo>
                    <a:pt x="60959" y="2456687"/>
                  </a:lnTo>
                  <a:lnTo>
                    <a:pt x="84683" y="2451897"/>
                  </a:lnTo>
                  <a:lnTo>
                    <a:pt x="104060" y="2438833"/>
                  </a:lnTo>
                  <a:lnTo>
                    <a:pt x="117127" y="2419456"/>
                  </a:lnTo>
                  <a:lnTo>
                    <a:pt x="121919" y="2395728"/>
                  </a:lnTo>
                  <a:lnTo>
                    <a:pt x="121919" y="60959"/>
                  </a:lnTo>
                  <a:lnTo>
                    <a:pt x="117127" y="37236"/>
                  </a:lnTo>
                  <a:lnTo>
                    <a:pt x="104060" y="17859"/>
                  </a:lnTo>
                  <a:lnTo>
                    <a:pt x="84683" y="479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38200" y="1560589"/>
            <a:ext cx="13030200" cy="16800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u="sng" spc="8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Lower</a:t>
            </a:r>
            <a:r>
              <a:rPr sz="2200" u="sng" spc="9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200" u="sng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Dis</a:t>
            </a:r>
            <a:r>
              <a:rPr sz="2200" u="sng" spc="3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tortion</a:t>
            </a:r>
            <a:endParaRPr sz="2200" u="sng" dirty="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37900"/>
              </a:lnSpc>
              <a:spcBef>
                <a:spcPts val="950"/>
              </a:spcBef>
            </a:pPr>
            <a:r>
              <a:rPr lang="en-IN"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The Envelope Detector(Diode network) works by nonlinear rectification/biasing, when two signals are applied unwanted terms are produced (DC offsets,harmonics,distortion etc.)</a:t>
            </a:r>
          </a:p>
          <a:p>
            <a:pPr marL="12700" marR="5080">
              <a:lnSpc>
                <a:spcPct val="137900"/>
              </a:lnSpc>
              <a:spcBef>
                <a:spcPts val="950"/>
              </a:spcBef>
            </a:pPr>
            <a:r>
              <a:rPr lang="en-IN"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The distortion is minimized a lot when using a multiplier since it linearizes the transistor behaviour(using differential amps)</a:t>
            </a:r>
            <a:endParaRPr sz="1750" dirty="0">
              <a:latin typeface="Malgun Gothic Semilight"/>
              <a:cs typeface="Malgun Gothic Semiligh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2788" y="6361914"/>
            <a:ext cx="13813836" cy="1557655"/>
            <a:chOff x="9732264" y="2221992"/>
            <a:chExt cx="4276725" cy="2487295"/>
          </a:xfrm>
        </p:grpSpPr>
        <p:sp>
          <p:nvSpPr>
            <p:cNvPr id="12" name="object 12"/>
            <p:cNvSpPr/>
            <p:nvPr/>
          </p:nvSpPr>
          <p:spPr>
            <a:xfrm>
              <a:off x="9796272" y="2237232"/>
              <a:ext cx="4197350" cy="2456815"/>
            </a:xfrm>
            <a:custGeom>
              <a:avLst/>
              <a:gdLst/>
              <a:ahLst/>
              <a:cxnLst/>
              <a:rect l="l" t="t" r="r" b="b"/>
              <a:pathLst>
                <a:path w="4197350" h="2456815">
                  <a:moveTo>
                    <a:pt x="0" y="146303"/>
                  </a:moveTo>
                  <a:lnTo>
                    <a:pt x="7461" y="100071"/>
                  </a:lnTo>
                  <a:lnTo>
                    <a:pt x="28236" y="59911"/>
                  </a:lnTo>
                  <a:lnTo>
                    <a:pt x="59911" y="28236"/>
                  </a:lnTo>
                  <a:lnTo>
                    <a:pt x="100071" y="7461"/>
                  </a:lnTo>
                  <a:lnTo>
                    <a:pt x="146303" y="0"/>
                  </a:lnTo>
                  <a:lnTo>
                    <a:pt x="4050791" y="0"/>
                  </a:lnTo>
                  <a:lnTo>
                    <a:pt x="4097024" y="7461"/>
                  </a:lnTo>
                  <a:lnTo>
                    <a:pt x="4137184" y="28236"/>
                  </a:lnTo>
                  <a:lnTo>
                    <a:pt x="4168859" y="59911"/>
                  </a:lnTo>
                  <a:lnTo>
                    <a:pt x="4189634" y="100071"/>
                  </a:lnTo>
                  <a:lnTo>
                    <a:pt x="4197095" y="146303"/>
                  </a:lnTo>
                  <a:lnTo>
                    <a:pt x="4197095" y="2310383"/>
                  </a:lnTo>
                  <a:lnTo>
                    <a:pt x="4189634" y="2356616"/>
                  </a:lnTo>
                  <a:lnTo>
                    <a:pt x="4168859" y="2396776"/>
                  </a:lnTo>
                  <a:lnTo>
                    <a:pt x="4137184" y="2428451"/>
                  </a:lnTo>
                  <a:lnTo>
                    <a:pt x="4097024" y="2449226"/>
                  </a:lnTo>
                  <a:lnTo>
                    <a:pt x="4050791" y="2456688"/>
                  </a:lnTo>
                  <a:lnTo>
                    <a:pt x="146303" y="2456688"/>
                  </a:lnTo>
                  <a:lnTo>
                    <a:pt x="100071" y="2449226"/>
                  </a:lnTo>
                  <a:lnTo>
                    <a:pt x="59911" y="2428451"/>
                  </a:lnTo>
                  <a:lnTo>
                    <a:pt x="28236" y="2396776"/>
                  </a:lnTo>
                  <a:lnTo>
                    <a:pt x="7461" y="2356616"/>
                  </a:lnTo>
                  <a:lnTo>
                    <a:pt x="0" y="2310383"/>
                  </a:lnTo>
                  <a:lnTo>
                    <a:pt x="0" y="146303"/>
                  </a:lnTo>
                  <a:close/>
                </a:path>
              </a:pathLst>
            </a:custGeom>
            <a:ln w="30480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32264" y="2237232"/>
              <a:ext cx="121920" cy="2456815"/>
            </a:xfrm>
            <a:custGeom>
              <a:avLst/>
              <a:gdLst/>
              <a:ahLst/>
              <a:cxnLst/>
              <a:rect l="l" t="t" r="r" b="b"/>
              <a:pathLst>
                <a:path w="121920" h="2456815">
                  <a:moveTo>
                    <a:pt x="60959" y="0"/>
                  </a:moveTo>
                  <a:lnTo>
                    <a:pt x="37236" y="4792"/>
                  </a:lnTo>
                  <a:lnTo>
                    <a:pt x="17859" y="17859"/>
                  </a:lnTo>
                  <a:lnTo>
                    <a:pt x="4792" y="37236"/>
                  </a:lnTo>
                  <a:lnTo>
                    <a:pt x="0" y="60959"/>
                  </a:lnTo>
                  <a:lnTo>
                    <a:pt x="0" y="2395728"/>
                  </a:lnTo>
                  <a:lnTo>
                    <a:pt x="4792" y="2419451"/>
                  </a:lnTo>
                  <a:lnTo>
                    <a:pt x="17859" y="2438828"/>
                  </a:lnTo>
                  <a:lnTo>
                    <a:pt x="37236" y="2451895"/>
                  </a:lnTo>
                  <a:lnTo>
                    <a:pt x="60959" y="2456688"/>
                  </a:lnTo>
                  <a:lnTo>
                    <a:pt x="84683" y="2451895"/>
                  </a:lnTo>
                  <a:lnTo>
                    <a:pt x="104060" y="2438828"/>
                  </a:lnTo>
                  <a:lnTo>
                    <a:pt x="117127" y="2419451"/>
                  </a:lnTo>
                  <a:lnTo>
                    <a:pt x="121919" y="2395728"/>
                  </a:lnTo>
                  <a:lnTo>
                    <a:pt x="121919" y="60959"/>
                  </a:lnTo>
                  <a:lnTo>
                    <a:pt x="117127" y="37236"/>
                  </a:lnTo>
                  <a:lnTo>
                    <a:pt x="104060" y="17859"/>
                  </a:lnTo>
                  <a:lnTo>
                    <a:pt x="84683" y="479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485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02640" y="6477000"/>
            <a:ext cx="13065760" cy="138473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u="sng" spc="4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Superior</a:t>
            </a:r>
            <a:r>
              <a:rPr sz="2200" u="sng" spc="19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200" u="sng" spc="4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Performance</a:t>
            </a:r>
            <a:endParaRPr sz="2200" u="sng" dirty="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37800"/>
              </a:lnSpc>
              <a:spcBef>
                <a:spcPts val="1315"/>
              </a:spcBef>
            </a:pP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More</a:t>
            </a:r>
            <a:r>
              <a:rPr sz="1750" spc="-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reliable</a:t>
            </a:r>
            <a:r>
              <a:rPr sz="1750" spc="13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signal</a:t>
            </a:r>
            <a:r>
              <a:rPr sz="1750" spc="8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recovery</a:t>
            </a:r>
            <a:r>
              <a:rPr sz="1750" spc="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with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better</a:t>
            </a:r>
            <a:r>
              <a:rPr sz="1750" spc="-3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fidelity</a:t>
            </a:r>
            <a:r>
              <a:rPr sz="1750" spc="-6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across</a:t>
            </a:r>
            <a:r>
              <a:rPr sz="1750" spc="19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various </a:t>
            </a:r>
            <a:r>
              <a:rPr sz="1750" spc="-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modulation</a:t>
            </a:r>
            <a:r>
              <a:rPr sz="1750" spc="-4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schemes.</a:t>
            </a:r>
            <a:r>
              <a:rPr lang="en-IN"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Supports mixing(frequency translation)</a:t>
            </a:r>
          </a:p>
          <a:p>
            <a:pPr marL="12700" marR="5080">
              <a:lnSpc>
                <a:spcPct val="137800"/>
              </a:lnSpc>
              <a:spcBef>
                <a:spcPts val="1315"/>
              </a:spcBef>
            </a:pPr>
            <a:r>
              <a:rPr lang="en-IN"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Frequency range of operation is in the order of GHz for Gilbert cells which is much lesser for the basic modulators. </a:t>
            </a:r>
            <a:endParaRPr sz="1750" dirty="0">
              <a:latin typeface="Malgun Gothic Semilight"/>
              <a:cs typeface="Malgun Gothic Semilight"/>
            </a:endParaRP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05"/>
              </a:spcBef>
            </a:pPr>
            <a:r>
              <a:rPr spc="155" dirty="0"/>
              <a:t>Real-</a:t>
            </a:r>
            <a:r>
              <a:rPr spc="50" dirty="0"/>
              <a:t>World</a:t>
            </a:r>
            <a:r>
              <a:rPr spc="65" dirty="0"/>
              <a:t> </a:t>
            </a:r>
            <a:r>
              <a:rPr spc="105" dirty="0"/>
              <a:t>Applications 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327" y="1615439"/>
            <a:ext cx="4224528" cy="42275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5408" y="6021781"/>
            <a:ext cx="3796029" cy="1763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000" spc="8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RF</a:t>
            </a:r>
            <a:r>
              <a:rPr sz="2000" spc="8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0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Systems</a:t>
            </a:r>
            <a:r>
              <a:rPr sz="2000" spc="29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0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&amp;</a:t>
            </a:r>
            <a:r>
              <a:rPr sz="2000" spc="4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00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Mixers</a:t>
            </a:r>
            <a:endParaRPr sz="2000" dirty="0">
              <a:latin typeface="Malgun Gothic Semilight"/>
              <a:cs typeface="Malgun Gothic Semilight"/>
            </a:endParaRPr>
          </a:p>
          <a:p>
            <a:pPr marL="12700" marR="5080" algn="just">
              <a:lnSpc>
                <a:spcPct val="135500"/>
              </a:lnSpc>
              <a:spcBef>
                <a:spcPts val="880"/>
              </a:spcBef>
            </a:pPr>
            <a:r>
              <a:rPr sz="1600" spc="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Used</a:t>
            </a:r>
            <a:r>
              <a:rPr sz="1600" spc="-114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in</a:t>
            </a:r>
            <a:r>
              <a:rPr sz="1600" spc="-1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telecommunications</a:t>
            </a:r>
            <a:r>
              <a:rPr sz="1600" spc="1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for</a:t>
            </a:r>
            <a:r>
              <a:rPr sz="1600" spc="-7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frequency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mixing</a:t>
            </a:r>
            <a:r>
              <a:rPr sz="1600" spc="-4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and</a:t>
            </a:r>
            <a:r>
              <a:rPr sz="160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phase-</a:t>
            </a:r>
            <a:r>
              <a:rPr sz="160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locked</a:t>
            </a:r>
            <a:r>
              <a:rPr sz="1600" spc="-10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loops</a:t>
            </a:r>
            <a:r>
              <a:rPr sz="1600" spc="1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5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(PLLs)</a:t>
            </a:r>
            <a:r>
              <a:rPr sz="1600" spc="19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for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stable</a:t>
            </a:r>
            <a:r>
              <a:rPr sz="1600" spc="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frequency</a:t>
            </a:r>
            <a:r>
              <a:rPr sz="1600" spc="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generation</a:t>
            </a:r>
            <a:r>
              <a:rPr sz="1600" spc="-4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in</a:t>
            </a:r>
            <a:r>
              <a:rPr sz="1600" spc="6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radios</a:t>
            </a:r>
            <a:r>
              <a:rPr sz="1600" spc="1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and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cellular</a:t>
            </a:r>
            <a:r>
              <a:rPr sz="1600" spc="3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4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systems.</a:t>
            </a:r>
            <a:endParaRPr sz="1600" dirty="0">
              <a:latin typeface="Malgun Gothic Semilight"/>
              <a:cs typeface="Malgun Gothic Semi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2935" y="1615439"/>
            <a:ext cx="4224528" cy="42275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189982" y="6021781"/>
            <a:ext cx="4206240" cy="1434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True </a:t>
            </a:r>
            <a:r>
              <a:rPr sz="2000" spc="-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R</a:t>
            </a:r>
            <a:r>
              <a:rPr sz="20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MS</a:t>
            </a:r>
            <a:r>
              <a:rPr sz="2000" spc="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00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Meas</a:t>
            </a:r>
            <a:r>
              <a:rPr sz="2000" spc="3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urement</a:t>
            </a:r>
            <a:endParaRPr sz="2000" dirty="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35700"/>
              </a:lnSpc>
              <a:spcBef>
                <a:spcPts val="880"/>
              </a:spcBef>
            </a:pP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Enables</a:t>
            </a:r>
            <a:r>
              <a:rPr sz="1600" spc="204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accurate</a:t>
            </a:r>
            <a:r>
              <a:rPr sz="1600" spc="-6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AC</a:t>
            </a:r>
            <a:r>
              <a:rPr sz="1600" spc="23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voltage</a:t>
            </a:r>
            <a:r>
              <a:rPr sz="1600" spc="5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measurement</a:t>
            </a:r>
            <a:r>
              <a:rPr sz="1600" spc="-6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for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any</a:t>
            </a:r>
            <a:r>
              <a:rPr sz="1600" spc="1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waveform</a:t>
            </a:r>
            <a:r>
              <a:rPr sz="1600" spc="-4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shape,</a:t>
            </a:r>
            <a:r>
              <a:rPr sz="1600" spc="16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not</a:t>
            </a:r>
            <a:r>
              <a:rPr sz="1600" spc="-4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just</a:t>
            </a:r>
            <a:r>
              <a:rPr sz="1600" spc="-4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sine</a:t>
            </a:r>
            <a:r>
              <a:rPr sz="1600" spc="10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waves</a:t>
            </a:r>
            <a:r>
              <a:rPr sz="1600" spc="-27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,</a:t>
            </a:r>
            <a:r>
              <a:rPr sz="1600" spc="13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in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precis</a:t>
            </a:r>
            <a:r>
              <a:rPr sz="1600" spc="-3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-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ion</a:t>
            </a:r>
            <a:r>
              <a:rPr sz="1600" spc="-5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multimeters.</a:t>
            </a:r>
            <a:endParaRPr sz="1600" dirty="0">
              <a:latin typeface="Malgun Gothic Semilight"/>
              <a:cs typeface="Malgun Gothic Semi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86543" y="1615439"/>
            <a:ext cx="4224528" cy="422757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74479" y="6021781"/>
            <a:ext cx="4193540" cy="1434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6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Power</a:t>
            </a:r>
            <a:r>
              <a:rPr sz="2000" spc="3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200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Meas</a:t>
            </a:r>
            <a:r>
              <a:rPr sz="2000" spc="3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urement</a:t>
            </a:r>
            <a:endParaRPr sz="2000" dirty="0">
              <a:latin typeface="Malgun Gothic Semilight"/>
              <a:cs typeface="Malgun Gothic Semilight"/>
            </a:endParaRPr>
          </a:p>
          <a:p>
            <a:pPr marL="12700" marR="5080">
              <a:lnSpc>
                <a:spcPct val="135700"/>
              </a:lnSpc>
              <a:spcBef>
                <a:spcPts val="880"/>
              </a:spcBef>
            </a:pP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Analog</a:t>
            </a:r>
            <a:r>
              <a:rPr sz="1600" spc="-1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wattmeters</a:t>
            </a:r>
            <a:r>
              <a:rPr sz="1600" spc="3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-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multiply</a:t>
            </a:r>
            <a:r>
              <a:rPr sz="1600" spc="-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instantaneous voltage</a:t>
            </a:r>
            <a:r>
              <a:rPr sz="1600" spc="-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and</a:t>
            </a:r>
            <a:r>
              <a:rPr sz="1600" spc="-6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current</a:t>
            </a:r>
            <a:r>
              <a:rPr sz="1600" spc="-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</a:t>
            </a:r>
            <a:r>
              <a:rPr sz="1600" spc="-29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ignals</a:t>
            </a:r>
            <a:r>
              <a:rPr sz="1600" spc="1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for</a:t>
            </a:r>
            <a:r>
              <a:rPr sz="1600" spc="-8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accurate</a:t>
            </a:r>
            <a:r>
              <a:rPr sz="1600" spc="7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power readings</a:t>
            </a:r>
            <a:r>
              <a:rPr sz="1600" spc="-26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600" spc="-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.</a:t>
            </a:r>
            <a:endParaRPr sz="1600" dirty="0">
              <a:latin typeface="Malgun Gothic Semilight"/>
              <a:cs typeface="Malgun Gothic Semi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67958" y="581913"/>
            <a:ext cx="4481830" cy="7023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50" b="1" u="sng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Ways</a:t>
            </a:r>
            <a:r>
              <a:rPr sz="4450" b="1" u="sng" spc="-1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4450" b="1" u="sng" spc="-7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sz="445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</a:t>
            </a:r>
            <a:r>
              <a:rPr sz="445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4450" b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Improve</a:t>
            </a:r>
            <a:endParaRPr sz="44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8191" y="1831085"/>
            <a:ext cx="578802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60" dirty="0">
                <a:latin typeface="Arial"/>
                <a:cs typeface="Arial"/>
              </a:rPr>
              <a:t>Four-</a:t>
            </a:r>
            <a:r>
              <a:rPr sz="2650" b="1" spc="-10" dirty="0">
                <a:latin typeface="Arial"/>
                <a:cs typeface="Arial"/>
              </a:rPr>
              <a:t>Quadrant</a:t>
            </a:r>
            <a:r>
              <a:rPr sz="2650" b="1" spc="-125" dirty="0">
                <a:latin typeface="Arial"/>
                <a:cs typeface="Arial"/>
              </a:rPr>
              <a:t> </a:t>
            </a:r>
            <a:r>
              <a:rPr sz="2650" b="1" spc="-25" dirty="0">
                <a:latin typeface="Arial"/>
                <a:cs typeface="Arial"/>
              </a:rPr>
              <a:t>Translinear</a:t>
            </a:r>
            <a:r>
              <a:rPr sz="2650" b="1" spc="-80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Multiplier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8191" y="2721027"/>
            <a:ext cx="6847205" cy="1127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37800"/>
              </a:lnSpc>
              <a:spcBef>
                <a:spcPts val="90"/>
              </a:spcBef>
            </a:pP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The</a:t>
            </a:r>
            <a:r>
              <a:rPr sz="1750" spc="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AD534</a:t>
            </a:r>
            <a:r>
              <a:rPr sz="1750" spc="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IC</a:t>
            </a:r>
            <a:r>
              <a:rPr sz="1750" spc="15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employs</a:t>
            </a:r>
            <a:r>
              <a:rPr sz="1750" spc="1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</a:t>
            </a:r>
            <a:r>
              <a:rPr sz="1750" spc="6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modified</a:t>
            </a:r>
            <a:r>
              <a:rPr sz="1750" spc="-6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Gilbert</a:t>
            </a:r>
            <a:r>
              <a:rPr sz="1750" spc="1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cell</a:t>
            </a:r>
            <a:r>
              <a:rPr sz="1750" spc="8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that</a:t>
            </a:r>
            <a:r>
              <a:rPr sz="1750" spc="-7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multiplies</a:t>
            </a:r>
            <a:r>
              <a:rPr sz="1750" spc="114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currents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instead</a:t>
            </a:r>
            <a:r>
              <a:rPr sz="1750" spc="3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of</a:t>
            </a:r>
            <a:r>
              <a:rPr sz="1750" spc="-114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voltages,</a:t>
            </a:r>
            <a:r>
              <a:rPr sz="1750" spc="16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offering</a:t>
            </a:r>
            <a:r>
              <a:rPr sz="1750" spc="-9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wideband</a:t>
            </a:r>
            <a:r>
              <a:rPr sz="1750" spc="4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operation</a:t>
            </a:r>
            <a:r>
              <a:rPr sz="1750" spc="-8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with</a:t>
            </a:r>
            <a:r>
              <a:rPr sz="1750" spc="-1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fewer</a:t>
            </a:r>
            <a:r>
              <a:rPr sz="1750" spc="3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limitations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than</a:t>
            </a:r>
            <a:r>
              <a:rPr sz="1750" spc="1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basic</a:t>
            </a:r>
            <a:r>
              <a:rPr sz="1750" spc="16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transconductance</a:t>
            </a:r>
            <a:r>
              <a:rPr sz="1750" spc="1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multipliers.</a:t>
            </a:r>
            <a:endParaRPr sz="1750">
              <a:latin typeface="Malgun Gothic Semilight"/>
              <a:cs typeface="Malgun Gothic Semiligh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78879" y="1673351"/>
            <a:ext cx="30480" cy="2447925"/>
          </a:xfrm>
          <a:custGeom>
            <a:avLst/>
            <a:gdLst/>
            <a:ahLst/>
            <a:cxnLst/>
            <a:rect l="l" t="t" r="r" b="b"/>
            <a:pathLst>
              <a:path w="30479" h="2447925">
                <a:moveTo>
                  <a:pt x="30479" y="0"/>
                </a:moveTo>
                <a:lnTo>
                  <a:pt x="0" y="0"/>
                </a:lnTo>
                <a:lnTo>
                  <a:pt x="0" y="2447544"/>
                </a:lnTo>
                <a:lnTo>
                  <a:pt x="30479" y="2447544"/>
                </a:lnTo>
                <a:lnTo>
                  <a:pt x="30479" y="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02400" y="4596206"/>
            <a:ext cx="2823210" cy="12242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spc="-20" dirty="0">
                <a:solidFill>
                  <a:srgbClr val="272424"/>
                </a:solidFill>
                <a:latin typeface="Arial"/>
                <a:cs typeface="Arial"/>
              </a:rPr>
              <a:t>Enhanced</a:t>
            </a:r>
            <a:r>
              <a:rPr sz="2200" b="1" spc="-6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2200" b="1" spc="-20" dirty="0">
                <a:solidFill>
                  <a:srgbClr val="272424"/>
                </a:solidFill>
                <a:latin typeface="Arial"/>
                <a:cs typeface="Arial"/>
              </a:rPr>
              <a:t>Bandwidth</a:t>
            </a:r>
            <a:endParaRPr sz="2200">
              <a:latin typeface="Arial"/>
              <a:cs typeface="Arial"/>
            </a:endParaRPr>
          </a:p>
          <a:p>
            <a:pPr marL="12700" marR="576580">
              <a:lnSpc>
                <a:spcPct val="137200"/>
              </a:lnSpc>
              <a:spcBef>
                <a:spcPts val="1025"/>
              </a:spcBef>
            </a:pP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Operates</a:t>
            </a:r>
            <a:r>
              <a:rPr sz="1750" spc="2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across</a:t>
            </a:r>
            <a:r>
              <a:rPr sz="1750" spc="26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wider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frequency</a:t>
            </a:r>
            <a:r>
              <a:rPr sz="1750" spc="10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ranges</a:t>
            </a:r>
            <a:endParaRPr sz="1750">
              <a:latin typeface="Malgun Gothic Semilight"/>
              <a:cs typeface="Malgun Gothic Semi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95331" y="4619066"/>
            <a:ext cx="2760980" cy="11823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dirty="0">
                <a:solidFill>
                  <a:srgbClr val="272424"/>
                </a:solidFill>
                <a:latin typeface="Arial"/>
                <a:cs typeface="Arial"/>
              </a:rPr>
              <a:t>Better</a:t>
            </a:r>
            <a:r>
              <a:rPr sz="2200" b="1" spc="-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272424"/>
                </a:solidFill>
                <a:latin typeface="Arial"/>
                <a:cs typeface="Arial"/>
              </a:rPr>
              <a:t>Linearity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7100"/>
              </a:lnSpc>
              <a:spcBef>
                <a:spcPts val="695"/>
              </a:spcBef>
            </a:pP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Improved</a:t>
            </a:r>
            <a:r>
              <a:rPr sz="1750" spc="-2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accuracy</a:t>
            </a:r>
            <a:r>
              <a:rPr sz="1750" spc="155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in</a:t>
            </a:r>
            <a:r>
              <a:rPr sz="1750" spc="7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signal multiplication</a:t>
            </a:r>
            <a:endParaRPr sz="1750">
              <a:latin typeface="Malgun Gothic Semilight"/>
              <a:cs typeface="Malgun Gothic Semi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02400" y="6485331"/>
            <a:ext cx="3561715" cy="860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spc="-10" dirty="0">
                <a:solidFill>
                  <a:srgbClr val="272424"/>
                </a:solidFill>
                <a:latin typeface="Arial"/>
                <a:cs typeface="Arial"/>
              </a:rPr>
              <a:t>Lower</a:t>
            </a:r>
            <a:r>
              <a:rPr sz="2200" b="1" spc="-125" dirty="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272424"/>
                </a:solidFill>
                <a:latin typeface="Arial"/>
                <a:cs typeface="Arial"/>
              </a:rPr>
              <a:t>Noise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R</a:t>
            </a:r>
            <a:r>
              <a:rPr sz="1750" spc="-2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educed</a:t>
            </a:r>
            <a:r>
              <a:rPr sz="1750" spc="2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interference</a:t>
            </a:r>
            <a:r>
              <a:rPr sz="1750" spc="9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</a:t>
            </a:r>
            <a:r>
              <a:rPr sz="175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and</a:t>
            </a:r>
            <a:r>
              <a:rPr sz="1750" spc="-10" dirty="0">
                <a:solidFill>
                  <a:srgbClr val="272424"/>
                </a:solidFill>
                <a:latin typeface="Malgun Gothic Semilight"/>
                <a:cs typeface="Malgun Gothic Semilight"/>
              </a:rPr>
              <a:t> distortion</a:t>
            </a:r>
            <a:endParaRPr sz="1750">
              <a:latin typeface="Malgun Gothic Semilight"/>
              <a:cs typeface="Malgun Gothic Semiligh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143" y="2407733"/>
            <a:ext cx="4953000" cy="16863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2100" y="4864734"/>
            <a:ext cx="51435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AD534,</a:t>
            </a:r>
            <a:r>
              <a:rPr sz="1800" u="sng" spc="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Four-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Quadrant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Precision</a:t>
            </a:r>
            <a:r>
              <a:rPr sz="1800" u="sng" spc="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8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Multiplier,</a:t>
            </a:r>
            <a:r>
              <a:rPr sz="1800" u="sng" spc="-8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Analog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980"/>
              </a:lnSpc>
            </a:pP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Devices,</a:t>
            </a:r>
            <a:r>
              <a:rPr sz="18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circa</a:t>
            </a:r>
            <a:r>
              <a:rPr sz="18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1976</a:t>
            </a:r>
            <a:r>
              <a:rPr sz="1800" u="sng" spc="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-</a:t>
            </a:r>
            <a:r>
              <a:rPr sz="1800" u="sng" spc="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CHM</a:t>
            </a:r>
            <a:r>
              <a:rPr sz="1800" u="sng" spc="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Microsoft Sans Serif"/>
                <a:cs typeface="Microsoft Sans Serif"/>
                <a:hlinkClick r:id="rId3"/>
              </a:rPr>
              <a:t>Revolution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</TotalTime>
  <Words>869</Words>
  <Application>Microsoft Office PowerPoint</Application>
  <PresentationFormat>Custom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Malgun Gothic Semilight</vt:lpstr>
      <vt:lpstr>Arial</vt:lpstr>
      <vt:lpstr>Calibri</vt:lpstr>
      <vt:lpstr>Cambria Math</vt:lpstr>
      <vt:lpstr>Microsoft Sans Serif</vt:lpstr>
      <vt:lpstr>Times New Roman</vt:lpstr>
      <vt:lpstr>Trebuchet MS</vt:lpstr>
      <vt:lpstr>Office Theme</vt:lpstr>
      <vt:lpstr>Amplitude Modulation and Demodulation Using Analog Multipliers</vt:lpstr>
      <vt:lpstr>Aim and Objective</vt:lpstr>
      <vt:lpstr>Working Principle</vt:lpstr>
      <vt:lpstr>PowerPoint Presentation</vt:lpstr>
      <vt:lpstr>Implementation Using Analog Multiplier</vt:lpstr>
      <vt:lpstr>PowerPoint Presentation</vt:lpstr>
      <vt:lpstr>Amplitude Modulation Circuit</vt:lpstr>
      <vt:lpstr>AM Demodulation</vt:lpstr>
      <vt:lpstr>RESULT</vt:lpstr>
      <vt:lpstr>AM(Amplitude Modulated Signal</vt:lpstr>
      <vt:lpstr>Advantages Over Envelope Detector</vt:lpstr>
      <vt:lpstr>Real-World Applications </vt:lpstr>
      <vt:lpstr>Ways To Improve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ATHULKRISHNA KIZHAKKEETTIL</cp:lastModifiedBy>
  <cp:revision>3</cp:revision>
  <dcterms:created xsi:type="dcterms:W3CDTF">2025-10-29T18:43:52Z</dcterms:created>
  <dcterms:modified xsi:type="dcterms:W3CDTF">2025-10-30T09:24:56Z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2025-10-29T00:00:00Z</vt:filetime>
  </property>
  <property fmtid="{D5CDD505-2E9C-101B-9397-08002B2CF9AE}" pid="5" name="Producer">
    <vt:lpwstr>www.ilovepdf.com</vt:lpwstr>
  </property>
</Properties>
</file>